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Montserrat" charset="1" panose="00000500000000000000"/>
      <p:regular r:id="rId19"/>
    </p:embeddedFont>
    <p:embeddedFont>
      <p:font typeface="Open Sans Bold" charset="1" panose="020B0806030504020204"/>
      <p:regular r:id="rId20"/>
    </p:embeddedFont>
    <p:embeddedFont>
      <p:font typeface="Montserra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2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6.jpe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6.jpeg" Type="http://schemas.openxmlformats.org/officeDocument/2006/relationships/image"/><Relationship Id="rId9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12" y="728662"/>
            <a:ext cx="16259175" cy="813530"/>
            <a:chOff x="0" y="0"/>
            <a:chExt cx="21678900" cy="1084707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1678900" cy="1084707"/>
            </a:xfrm>
            <a:custGeom>
              <a:avLst/>
              <a:gdLst/>
              <a:ahLst/>
              <a:cxnLst/>
              <a:rect r="r" b="b" t="t" l="l"/>
              <a:pathLst>
                <a:path h="1084707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1084707"/>
                  </a:lnTo>
                  <a:lnTo>
                    <a:pt x="0" y="1084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41" r="0" b="-8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43162" y="478184"/>
            <a:ext cx="7858125" cy="723995"/>
            <a:chOff x="0" y="0"/>
            <a:chExt cx="10477500" cy="965327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965327"/>
            </a:xfrm>
            <a:custGeom>
              <a:avLst/>
              <a:gdLst/>
              <a:ahLst/>
              <a:cxnLst/>
              <a:rect r="r" b="b" t="t" l="l"/>
              <a:pathLst>
                <a:path h="965327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965327"/>
                  </a:lnTo>
                  <a:lnTo>
                    <a:pt x="0" y="96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09" r="0" b="-13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14338" y="6202785"/>
            <a:ext cx="7858125" cy="723995"/>
            <a:chOff x="0" y="0"/>
            <a:chExt cx="10477500" cy="96532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965327"/>
            </a:xfrm>
            <a:custGeom>
              <a:avLst/>
              <a:gdLst/>
              <a:ahLst/>
              <a:cxnLst/>
              <a:rect r="r" b="b" t="t" l="l"/>
              <a:pathLst>
                <a:path h="965327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965327"/>
                  </a:lnTo>
                  <a:lnTo>
                    <a:pt x="0" y="96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09" r="0" b="-130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2236" y="6441005"/>
            <a:ext cx="523090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Jhorman Jamir Pascuas Lara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06032" y="6441005"/>
            <a:ext cx="470758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 Juan Carlos Ramírez Diaz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70892" y="6441005"/>
            <a:ext cx="207605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20/052026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79081" y="1571526"/>
            <a:ext cx="10028701" cy="247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5"/>
              </a:lnSpc>
            </a:pPr>
            <a:r>
              <a:rPr lang="en-US" sz="7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Respuestas sobre</a:t>
            </a:r>
          </a:p>
          <a:p>
            <a:pPr algn="ctr">
              <a:lnSpc>
                <a:spcPts val="9935"/>
              </a:lnSpc>
            </a:pPr>
            <a:r>
              <a:rPr lang="en-US" sz="7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Sistemas Operativos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6340" y="4813957"/>
            <a:ext cx="33026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APRENDIZ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6032" y="4813957"/>
            <a:ext cx="43747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INSTRUCTOR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1519" y="4813957"/>
            <a:ext cx="43747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A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12" y="728662"/>
            <a:ext cx="16259175" cy="1927955"/>
            <a:chOff x="0" y="0"/>
            <a:chExt cx="21678900" cy="2570607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1678900" cy="2570607"/>
            </a:xfrm>
            <a:custGeom>
              <a:avLst/>
              <a:gdLst/>
              <a:ahLst/>
              <a:cxnLst/>
              <a:rect r="r" b="b" t="t" l="l"/>
              <a:pathLst>
                <a:path h="2570607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570607"/>
                  </a:lnTo>
                  <a:lnTo>
                    <a:pt x="0" y="2570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4" r="0" b="-67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" y="4035152"/>
            <a:ext cx="7915275" cy="3714560"/>
            <a:chOff x="0" y="0"/>
            <a:chExt cx="10553700" cy="495274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4952746"/>
            </a:xfrm>
            <a:custGeom>
              <a:avLst/>
              <a:gdLst/>
              <a:ahLst/>
              <a:cxnLst/>
              <a:rect r="r" b="b" t="t" l="l"/>
              <a:pathLst>
                <a:path h="4952746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4952746"/>
                  </a:lnTo>
                  <a:lnTo>
                    <a:pt x="0" y="4952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4025" y="4035152"/>
            <a:ext cx="7915275" cy="3714560"/>
            <a:chOff x="0" y="0"/>
            <a:chExt cx="10553700" cy="495274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53700" cy="4952746"/>
            </a:xfrm>
            <a:custGeom>
              <a:avLst/>
              <a:gdLst/>
              <a:ahLst/>
              <a:cxnLst/>
              <a:rect r="r" b="b" t="t" l="l"/>
              <a:pathLst>
                <a:path h="4952746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4952746"/>
                  </a:lnTo>
                  <a:lnTo>
                    <a:pt x="0" y="4952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43162" y="513455"/>
            <a:ext cx="7858125" cy="1715643"/>
            <a:chOff x="0" y="0"/>
            <a:chExt cx="10477500" cy="228752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77500" cy="2287524"/>
            </a:xfrm>
            <a:custGeom>
              <a:avLst/>
              <a:gdLst/>
              <a:ahLst/>
              <a:cxnLst/>
              <a:rect r="r" b="b" t="t" l="l"/>
              <a:pathLst>
                <a:path h="2287524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287524"/>
                  </a:lnTo>
                  <a:lnTo>
                    <a:pt x="0" y="228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99" r="0" b="-79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14550" y="4549502"/>
            <a:ext cx="6600825" cy="414338"/>
            <a:chOff x="0" y="0"/>
            <a:chExt cx="8801100" cy="552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01100" cy="552450"/>
            </a:xfrm>
            <a:custGeom>
              <a:avLst/>
              <a:gdLst/>
              <a:ahLst/>
              <a:cxnLst/>
              <a:rect r="r" b="b" t="t" l="l"/>
              <a:pathLst>
                <a:path h="552450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0199" r="0" b="-26020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14550" y="4549502"/>
            <a:ext cx="6600825" cy="414338"/>
            <a:chOff x="0" y="0"/>
            <a:chExt cx="8801100" cy="552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01100" cy="552451"/>
            </a:xfrm>
            <a:custGeom>
              <a:avLst/>
              <a:gdLst/>
              <a:ahLst/>
              <a:cxnLst/>
              <a:rect r="r" b="b" t="t" l="l"/>
              <a:pathLst>
                <a:path h="552451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552451"/>
                  </a:lnTo>
                  <a:lnTo>
                    <a:pt x="0" y="5524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0416" r="0" b="-2604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8011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88A20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Software Principal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14475" y="4892402"/>
            <a:ext cx="6886575" cy="234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Un sistema operativo es el software principal de un computador o dispositivo electrónico. Se encarga de administrar los recursos del hardware y permitir la comunicación entre el usuario, las aplicaciones y los componentes físicos del sistema.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72725" y="4755109"/>
            <a:ext cx="6690836" cy="414338"/>
            <a:chOff x="0" y="0"/>
            <a:chExt cx="8921115" cy="552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21115" cy="552450"/>
            </a:xfrm>
            <a:custGeom>
              <a:avLst/>
              <a:gdLst/>
              <a:ahLst/>
              <a:cxnLst/>
              <a:rect r="r" b="b" t="t" l="l"/>
              <a:pathLst>
                <a:path h="552450" w="8921115">
                  <a:moveTo>
                    <a:pt x="0" y="0"/>
                  </a:moveTo>
                  <a:lnTo>
                    <a:pt x="8921115" y="0"/>
                  </a:lnTo>
                  <a:lnTo>
                    <a:pt x="8921115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4429" r="0" b="-26443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72725" y="4755109"/>
            <a:ext cx="6690836" cy="414338"/>
            <a:chOff x="0" y="0"/>
            <a:chExt cx="8921115" cy="552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21114" cy="552451"/>
            </a:xfrm>
            <a:custGeom>
              <a:avLst/>
              <a:gdLst/>
              <a:ahLst/>
              <a:cxnLst/>
              <a:rect r="r" b="b" t="t" l="l"/>
              <a:pathLst>
                <a:path h="552451" w="8921114">
                  <a:moveTo>
                    <a:pt x="0" y="0"/>
                  </a:moveTo>
                  <a:lnTo>
                    <a:pt x="8921114" y="0"/>
                  </a:lnTo>
                  <a:lnTo>
                    <a:pt x="8921114" y="552451"/>
                  </a:lnTo>
                  <a:lnTo>
                    <a:pt x="0" y="5524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4649" r="0" b="-26464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921115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88A20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El Intermediario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58375" y="5098009"/>
            <a:ext cx="6886575" cy="193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En otras palabras, actúa como intermediario entre el usuario y el computador, haciendo posible que los programas funcionen correctamente y que el equipo pueda realizar diferentes tareas de forma organizada.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5866" y="2320823"/>
            <a:ext cx="17072134" cy="853469"/>
            <a:chOff x="0" y="0"/>
            <a:chExt cx="22762845" cy="11379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62845" cy="1137920"/>
            </a:xfrm>
            <a:custGeom>
              <a:avLst/>
              <a:gdLst/>
              <a:ahLst/>
              <a:cxnLst/>
              <a:rect r="r" b="b" t="t" l="l"/>
              <a:pathLst>
                <a:path h="113792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1137920"/>
                  </a:lnTo>
                  <a:lnTo>
                    <a:pt x="0" y="1137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504" r="0" b="-33950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5866" y="2320823"/>
            <a:ext cx="17072134" cy="853469"/>
            <a:chOff x="0" y="0"/>
            <a:chExt cx="22762845" cy="11379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762845" cy="1137959"/>
            </a:xfrm>
            <a:custGeom>
              <a:avLst/>
              <a:gdLst/>
              <a:ahLst/>
              <a:cxnLst/>
              <a:rect r="r" b="b" t="t" l="l"/>
              <a:pathLst>
                <a:path h="113795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1137959"/>
                  </a:lnTo>
                  <a:lnTo>
                    <a:pt x="0" y="11379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9763" r="0" b="-3397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2762845" cy="1137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¿Qué es un sistema operativo?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A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12" y="728662"/>
            <a:ext cx="16259175" cy="1020699"/>
            <a:chOff x="0" y="0"/>
            <a:chExt cx="21678900" cy="1360932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1678900" cy="1360932"/>
            </a:xfrm>
            <a:custGeom>
              <a:avLst/>
              <a:gdLst/>
              <a:ahLst/>
              <a:cxnLst/>
              <a:rect r="r" b="b" t="t" l="l"/>
              <a:pathLst>
                <a:path h="1360932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1360932"/>
                  </a:lnTo>
                  <a:lnTo>
                    <a:pt x="0" y="1360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02" r="0" b="-100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14338" y="4606823"/>
            <a:ext cx="7858125" cy="908114"/>
            <a:chOff x="0" y="0"/>
            <a:chExt cx="10477500" cy="121081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1210818"/>
            </a:xfrm>
            <a:custGeom>
              <a:avLst/>
              <a:gdLst/>
              <a:ahLst/>
              <a:cxnLst/>
              <a:rect r="r" b="b" t="t" l="l"/>
              <a:pathLst>
                <a:path h="1210818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210818"/>
                  </a:lnTo>
                  <a:lnTo>
                    <a:pt x="0" y="1210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32" r="0" b="-113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29135" y="3305137"/>
            <a:ext cx="8556869" cy="262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749">
                <a:solidFill>
                  <a:srgbClr val="1F1E1E"/>
                </a:solidFill>
                <a:latin typeface="Arimo"/>
                <a:ea typeface="Arimo"/>
                <a:cs typeface="Arimo"/>
                <a:sym typeface="Arimo"/>
              </a:rPr>
              <a:t>La función principal del sistema operativo es administrar y coordinar los recursos del computador, como el procesador, la memoria RAM, el almacenamiento y los dispositivos conectados.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29135" y="5901653"/>
            <a:ext cx="8556869" cy="195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749">
                <a:solidFill>
                  <a:srgbClr val="1F1E1E"/>
                </a:solidFill>
                <a:latin typeface="Arimo"/>
                <a:ea typeface="Arimo"/>
                <a:cs typeface="Arimo"/>
                <a:sym typeface="Arimo"/>
              </a:rPr>
              <a:t>Además, permite ejecutar aplicaciones, gestionar archivos, controlar procesos y facilitar la interacción entre el usuario y el sistema.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14412" y="2657475"/>
            <a:ext cx="17072134" cy="671512"/>
            <a:chOff x="0" y="0"/>
            <a:chExt cx="22762845" cy="895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5031" r="0" b="-44503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49937" y="1077849"/>
            <a:ext cx="17072134" cy="671512"/>
            <a:chOff x="0" y="0"/>
            <a:chExt cx="22762845" cy="895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62845" cy="895349"/>
            </a:xfrm>
            <a:custGeom>
              <a:avLst/>
              <a:gdLst/>
              <a:ahLst/>
              <a:cxnLst/>
              <a:rect r="r" b="b" t="t" l="l"/>
              <a:pathLst>
                <a:path h="89534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49"/>
                  </a:lnTo>
                  <a:lnTo>
                    <a:pt x="0" y="89534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¿Cuál es la función principal?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A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12" y="4029075"/>
            <a:ext cx="5181695" cy="4014788"/>
            <a:chOff x="0" y="0"/>
            <a:chExt cx="6908927" cy="53530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53276" y="4029075"/>
            <a:ext cx="5181695" cy="4014788"/>
            <a:chOff x="0" y="0"/>
            <a:chExt cx="6908927" cy="5353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92140" y="4029075"/>
            <a:ext cx="5181695" cy="4014788"/>
            <a:chOff x="0" y="0"/>
            <a:chExt cx="6908927" cy="5353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412" y="728662"/>
            <a:ext cx="16259175" cy="1768983"/>
            <a:chOff x="0" y="0"/>
            <a:chExt cx="21678900" cy="235864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2358644"/>
            </a:xfrm>
            <a:custGeom>
              <a:avLst/>
              <a:gdLst/>
              <a:ahLst/>
              <a:cxnLst/>
              <a:rect r="r" b="b" t="t" l="l"/>
              <a:pathLst>
                <a:path h="2358644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358644"/>
                  </a:lnTo>
                  <a:lnTo>
                    <a:pt x="0" y="2358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93" r="0" b="-7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43162" y="354511"/>
            <a:ext cx="7858125" cy="1574292"/>
            <a:chOff x="0" y="0"/>
            <a:chExt cx="10477500" cy="209905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2099056"/>
            </a:xfrm>
            <a:custGeom>
              <a:avLst/>
              <a:gdLst/>
              <a:ahLst/>
              <a:cxnLst/>
              <a:rect r="r" b="b" t="t" l="l"/>
              <a:pathLst>
                <a:path h="2099056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099056"/>
                  </a:lnTo>
                  <a:lnTo>
                    <a:pt x="0" y="209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9" r="0" b="-3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0073" y="9115425"/>
            <a:ext cx="16259175" cy="442912"/>
            <a:chOff x="0" y="0"/>
            <a:chExt cx="21678900" cy="5905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1678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7" t="0" r="-8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61611" y="4383051"/>
            <a:ext cx="4510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Funcionamiento 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7335" y="5239904"/>
            <a:ext cx="42958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El sistema operativo es importante porque sin él el computador no podría funcionar correctamente. Gracias a este software, el hardware puede trabajar de forma organizada.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96189" y="4383051"/>
            <a:ext cx="4510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Productividad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74732" y="5239904"/>
            <a:ext cx="42958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Permite al usuario utilizar programas con agilidad, almacenar información estructurada de forma segura y ejecutar tareas lógicas sin complicaciones técnicas.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27668" y="4383051"/>
            <a:ext cx="4510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 y Control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7668" y="5239904"/>
            <a:ext cx="42958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También proporciona seguridad, estabilidad y control sobre los recursos físicos y lógicos del sistema, mejorando el rendimiento general de todo el equipo.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1826123"/>
            <a:ext cx="17072134" cy="671512"/>
            <a:chOff x="0" y="0"/>
            <a:chExt cx="22762845" cy="8953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5031" r="0" b="-44503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1826123"/>
            <a:ext cx="17072134" cy="671512"/>
            <a:chOff x="0" y="0"/>
            <a:chExt cx="22762845" cy="895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62845" cy="895349"/>
            </a:xfrm>
            <a:custGeom>
              <a:avLst/>
              <a:gdLst/>
              <a:ahLst/>
              <a:cxnLst/>
              <a:rect r="r" b="b" t="t" l="l"/>
              <a:pathLst>
                <a:path h="89534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49"/>
                  </a:lnTo>
                  <a:lnTo>
                    <a:pt x="0" y="895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¿Por qué es importante?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A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866" y="4000424"/>
            <a:ext cx="5181695" cy="4057650"/>
            <a:chOff x="0" y="0"/>
            <a:chExt cx="6908927" cy="54102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5410200"/>
            </a:xfrm>
            <a:custGeom>
              <a:avLst/>
              <a:gdLst/>
              <a:ahLst/>
              <a:cxnLst/>
              <a:rect r="r" b="b" t="t" l="l"/>
              <a:pathLst>
                <a:path h="541020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54730" y="4000424"/>
            <a:ext cx="5181695" cy="4057650"/>
            <a:chOff x="0" y="0"/>
            <a:chExt cx="6908927" cy="5410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5410200"/>
            </a:xfrm>
            <a:custGeom>
              <a:avLst/>
              <a:gdLst/>
              <a:ahLst/>
              <a:cxnLst/>
              <a:rect r="r" b="b" t="t" l="l"/>
              <a:pathLst>
                <a:path h="541020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93594" y="4000424"/>
            <a:ext cx="5181695" cy="4057650"/>
            <a:chOff x="0" y="0"/>
            <a:chExt cx="6908927" cy="54102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5410200"/>
            </a:xfrm>
            <a:custGeom>
              <a:avLst/>
              <a:gdLst/>
              <a:ahLst/>
              <a:cxnLst/>
              <a:rect r="r" b="b" t="t" l="l"/>
              <a:pathLst>
                <a:path h="541020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412" y="728662"/>
            <a:ext cx="16259175" cy="1746218"/>
            <a:chOff x="0" y="0"/>
            <a:chExt cx="21678900" cy="232829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2328291"/>
            </a:xfrm>
            <a:custGeom>
              <a:avLst/>
              <a:gdLst/>
              <a:ahLst/>
              <a:cxnLst/>
              <a:rect r="r" b="b" t="t" l="l"/>
              <a:pathLst>
                <a:path h="2328291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328291"/>
                  </a:lnTo>
                  <a:lnTo>
                    <a:pt x="0" y="2328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9" r="0" b="-63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212884" y="4275010"/>
            <a:ext cx="7858125" cy="1554194"/>
            <a:chOff x="0" y="0"/>
            <a:chExt cx="10477500" cy="207225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2072259"/>
            </a:xfrm>
            <a:custGeom>
              <a:avLst/>
              <a:gdLst/>
              <a:ahLst/>
              <a:cxnLst/>
              <a:rect r="r" b="b" t="t" l="l"/>
              <a:pathLst>
                <a:path h="207225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072259"/>
                  </a:lnTo>
                  <a:lnTo>
                    <a:pt x="0" y="2072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60" r="0" b="-5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43200" y="9159850"/>
            <a:ext cx="16259175" cy="442912"/>
            <a:chOff x="0" y="0"/>
            <a:chExt cx="21678900" cy="5905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1678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7" t="0" r="-8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34578" y="4690158"/>
            <a:ext cx="4510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Windows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8779" y="5662536"/>
            <a:ext cx="4295851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Sistema operativo comercial líder del mercado. Ampliamente enfocado en equipos de escritorio, computadores de consumo y entornos corporativos.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40354" y="4724324"/>
            <a:ext cx="4510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Linux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97642" y="5662536"/>
            <a:ext cx="42958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Ecosistema de código abierto reconocido por su alta seguridad, control absoluto del kernel, robustez y su masivo dominio en servidores mundiales.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4719" y="4643361"/>
            <a:ext cx="4510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Android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6506" y="5662536"/>
            <a:ext cx="42958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Sistema operativo móvil basado en el núcleo de Linux. Diseñado específicamente para pantallas táctiles de celulares, tabletas y wearables.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58779" y="4571924"/>
            <a:ext cx="457200" cy="514350"/>
            <a:chOff x="0" y="0"/>
            <a:chExt cx="6096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7642" y="4571924"/>
            <a:ext cx="457200" cy="514350"/>
            <a:chOff x="0" y="0"/>
            <a:chExt cx="6096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736506" y="4571924"/>
            <a:ext cx="585788" cy="514350"/>
            <a:chOff x="0" y="0"/>
            <a:chExt cx="78105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13225" y="2224011"/>
            <a:ext cx="17072134" cy="671512"/>
            <a:chOff x="0" y="0"/>
            <a:chExt cx="22762845" cy="8953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45031" r="0" b="-44503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28700" y="930259"/>
            <a:ext cx="17072134" cy="671512"/>
            <a:chOff x="0" y="0"/>
            <a:chExt cx="22762845" cy="8953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62845" cy="895349"/>
            </a:xfrm>
            <a:custGeom>
              <a:avLst/>
              <a:gdLst/>
              <a:ahLst/>
              <a:cxnLst/>
              <a:rect r="r" b="b" t="t" l="l"/>
              <a:pathLst>
                <a:path h="89534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49"/>
                  </a:lnTo>
                  <a:lnTo>
                    <a:pt x="0" y="89534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4. Ejemplos de sistemas operativos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A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12" y="728662"/>
            <a:ext cx="16259175" cy="1927955"/>
            <a:chOff x="0" y="0"/>
            <a:chExt cx="21678900" cy="2570607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1678900" cy="2570607"/>
            </a:xfrm>
            <a:custGeom>
              <a:avLst/>
              <a:gdLst/>
              <a:ahLst/>
              <a:cxnLst/>
              <a:rect r="r" b="b" t="t" l="l"/>
              <a:pathLst>
                <a:path h="2570607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570607"/>
                  </a:lnTo>
                  <a:lnTo>
                    <a:pt x="0" y="2570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4" r="0" b="-67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43162" y="513455"/>
            <a:ext cx="7858125" cy="1715643"/>
            <a:chOff x="0" y="0"/>
            <a:chExt cx="10477500" cy="228752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2287524"/>
            </a:xfrm>
            <a:custGeom>
              <a:avLst/>
              <a:gdLst/>
              <a:ahLst/>
              <a:cxnLst/>
              <a:rect r="r" b="b" t="t" l="l"/>
              <a:pathLst>
                <a:path h="2287524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287524"/>
                  </a:lnTo>
                  <a:lnTo>
                    <a:pt x="0" y="228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99" r="0" b="-79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71675" y="4314939"/>
            <a:ext cx="6780847" cy="414338"/>
            <a:chOff x="0" y="0"/>
            <a:chExt cx="9041130" cy="552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41130" cy="552450"/>
            </a:xfrm>
            <a:custGeom>
              <a:avLst/>
              <a:gdLst/>
              <a:ahLst/>
              <a:cxnLst/>
              <a:rect r="r" b="b" t="t" l="l"/>
              <a:pathLst>
                <a:path h="552450" w="9041130">
                  <a:moveTo>
                    <a:pt x="0" y="0"/>
                  </a:moveTo>
                  <a:lnTo>
                    <a:pt x="9041130" y="0"/>
                  </a:lnTo>
                  <a:lnTo>
                    <a:pt x="904113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8659" r="0" b="-2686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8778" y="4107771"/>
            <a:ext cx="6780847" cy="414338"/>
            <a:chOff x="0" y="0"/>
            <a:chExt cx="9041130" cy="552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41130" cy="552451"/>
            </a:xfrm>
            <a:custGeom>
              <a:avLst/>
              <a:gdLst/>
              <a:ahLst/>
              <a:cxnLst/>
              <a:rect r="r" b="b" t="t" l="l"/>
              <a:pathLst>
                <a:path h="552451" w="9041130">
                  <a:moveTo>
                    <a:pt x="0" y="0"/>
                  </a:moveTo>
                  <a:lnTo>
                    <a:pt x="9041130" y="0"/>
                  </a:lnTo>
                  <a:lnTo>
                    <a:pt x="9041130" y="552451"/>
                  </a:lnTo>
                  <a:lnTo>
                    <a:pt x="0" y="5524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8882" r="0" b="-2688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04113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88A20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Sistemas Operativos Móviles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43050" y="4638789"/>
            <a:ext cx="6886575" cy="315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2224">
                <a:solidFill>
                  <a:srgbClr val="1F1E1E"/>
                </a:solidFill>
                <a:latin typeface="Arimo"/>
                <a:ea typeface="Arimo"/>
                <a:cs typeface="Arimo"/>
                <a:sym typeface="Arimo"/>
              </a:rPr>
              <a:t>La principal diferencia es que los sistemas operativos móviles están diseñados para dispositivos portátiles como teléfonos y tabletas. Los sistemas móviles priorizan con estricto rigor el ahorro de batería, las pantallas táctiles y el formato rápido de las aplicaciones móviles.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87025" y="4314939"/>
            <a:ext cx="6600825" cy="414338"/>
            <a:chOff x="0" y="0"/>
            <a:chExt cx="8801100" cy="552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01100" cy="552450"/>
            </a:xfrm>
            <a:custGeom>
              <a:avLst/>
              <a:gdLst/>
              <a:ahLst/>
              <a:cxnLst/>
              <a:rect r="r" b="b" t="t" l="l"/>
              <a:pathLst>
                <a:path h="552450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0199" r="0" b="-2602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86950" y="4107771"/>
            <a:ext cx="6600825" cy="414338"/>
            <a:chOff x="0" y="0"/>
            <a:chExt cx="8801100" cy="552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01100" cy="552451"/>
            </a:xfrm>
            <a:custGeom>
              <a:avLst/>
              <a:gdLst/>
              <a:ahLst/>
              <a:cxnLst/>
              <a:rect r="r" b="b" t="t" l="l"/>
              <a:pathLst>
                <a:path h="552451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552451"/>
                  </a:lnTo>
                  <a:lnTo>
                    <a:pt x="0" y="5524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0416" r="0" b="-2604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8011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88A20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Sistemas de Computador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886950" y="4648314"/>
            <a:ext cx="6886575" cy="252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8"/>
              </a:lnSpc>
            </a:pPr>
            <a:r>
              <a:rPr lang="en-US" sz="2124">
                <a:solidFill>
                  <a:srgbClr val="090D16"/>
                </a:solidFill>
                <a:latin typeface="Arimo"/>
                <a:ea typeface="Arimo"/>
                <a:cs typeface="Arimo"/>
                <a:sym typeface="Arimo"/>
              </a:rPr>
              <a:t>Están orientados a equipos de escritorio y computadores portátiles. Ofrecen una capacidad de procesamiento significativamente mayor, multitarea avanzada en tiempo real y un soporte dedicado para software profesional complejo.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2044960"/>
            <a:ext cx="17072134" cy="853469"/>
            <a:chOff x="0" y="0"/>
            <a:chExt cx="22762845" cy="11379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62845" cy="1137920"/>
            </a:xfrm>
            <a:custGeom>
              <a:avLst/>
              <a:gdLst/>
              <a:ahLst/>
              <a:cxnLst/>
              <a:rect r="r" b="b" t="t" l="l"/>
              <a:pathLst>
                <a:path h="113792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1137920"/>
                  </a:lnTo>
                  <a:lnTo>
                    <a:pt x="0" y="1137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504" r="0" b="-33950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2044960"/>
            <a:ext cx="17072134" cy="853469"/>
            <a:chOff x="0" y="0"/>
            <a:chExt cx="22762845" cy="1137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62845" cy="1137959"/>
            </a:xfrm>
            <a:custGeom>
              <a:avLst/>
              <a:gdLst/>
              <a:ahLst/>
              <a:cxnLst/>
              <a:rect r="r" b="b" t="t" l="l"/>
              <a:pathLst>
                <a:path h="113795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1137959"/>
                  </a:lnTo>
                  <a:lnTo>
                    <a:pt x="0" y="11379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9763" r="0" b="-33976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762845" cy="1137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5. Sistemas Móviles vs. Computador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A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866" y="3594868"/>
            <a:ext cx="7915275" cy="4125944"/>
            <a:chOff x="0" y="0"/>
            <a:chExt cx="10553700" cy="5501259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553700" cy="5501259"/>
            </a:xfrm>
            <a:custGeom>
              <a:avLst/>
              <a:gdLst/>
              <a:ahLst/>
              <a:cxnLst/>
              <a:rect r="r" b="b" t="t" l="l"/>
              <a:pathLst>
                <a:path h="5501259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5501259"/>
                  </a:lnTo>
                  <a:lnTo>
                    <a:pt x="0" y="550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" t="0" r="-5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59766" y="3594868"/>
            <a:ext cx="7915275" cy="4125944"/>
            <a:chOff x="0" y="0"/>
            <a:chExt cx="10553700" cy="5501259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5501259"/>
            </a:xfrm>
            <a:custGeom>
              <a:avLst/>
              <a:gdLst/>
              <a:ahLst/>
              <a:cxnLst/>
              <a:rect r="r" b="b" t="t" l="l"/>
              <a:pathLst>
                <a:path h="5501259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5501259"/>
                  </a:lnTo>
                  <a:lnTo>
                    <a:pt x="0" y="550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" t="0" r="-5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412" y="728662"/>
            <a:ext cx="16259175" cy="1710023"/>
            <a:chOff x="0" y="0"/>
            <a:chExt cx="21678900" cy="228003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678900" cy="2280031"/>
            </a:xfrm>
            <a:custGeom>
              <a:avLst/>
              <a:gdLst/>
              <a:ahLst/>
              <a:cxnLst/>
              <a:rect r="r" b="b" t="t" l="l"/>
              <a:pathLst>
                <a:path h="2280031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280031"/>
                  </a:lnTo>
                  <a:lnTo>
                    <a:pt x="0" y="228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60" r="0" b="-4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12884" y="3901602"/>
            <a:ext cx="7858125" cy="1522095"/>
            <a:chOff x="0" y="0"/>
            <a:chExt cx="10477500" cy="202946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77500" cy="2029460"/>
            </a:xfrm>
            <a:custGeom>
              <a:avLst/>
              <a:gdLst/>
              <a:ahLst/>
              <a:cxnLst/>
              <a:rect r="r" b="b" t="t" l="l"/>
              <a:pathLst>
                <a:path h="202946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029460"/>
                  </a:lnTo>
                  <a:lnTo>
                    <a:pt x="0" y="202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57" r="0" b="-115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01704" y="4109218"/>
            <a:ext cx="6735842" cy="414338"/>
            <a:chOff x="0" y="0"/>
            <a:chExt cx="8981122" cy="552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81186" cy="552450"/>
            </a:xfrm>
            <a:custGeom>
              <a:avLst/>
              <a:gdLst/>
              <a:ahLst/>
              <a:cxnLst/>
              <a:rect r="r" b="b" t="t" l="l"/>
              <a:pathLst>
                <a:path h="552450" w="8981186">
                  <a:moveTo>
                    <a:pt x="0" y="0"/>
                  </a:moveTo>
                  <a:lnTo>
                    <a:pt x="8981186" y="0"/>
                  </a:lnTo>
                  <a:lnTo>
                    <a:pt x="8981186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6544" r="0" b="-26654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84598" y="3901602"/>
            <a:ext cx="6735842" cy="414338"/>
            <a:chOff x="0" y="0"/>
            <a:chExt cx="8981122" cy="552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81122" cy="552451"/>
            </a:xfrm>
            <a:custGeom>
              <a:avLst/>
              <a:gdLst/>
              <a:ahLst/>
              <a:cxnLst/>
              <a:rect r="r" b="b" t="t" l="l"/>
              <a:pathLst>
                <a:path h="552451" w="8981122">
                  <a:moveTo>
                    <a:pt x="0" y="0"/>
                  </a:moveTo>
                  <a:lnTo>
                    <a:pt x="8981122" y="0"/>
                  </a:lnTo>
                  <a:lnTo>
                    <a:pt x="8981122" y="552451"/>
                  </a:lnTo>
                  <a:lnTo>
                    <a:pt x="0" y="55245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6765" r="0" b="-2667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981122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88A20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Entorno Windows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30216" y="4442593"/>
            <a:ext cx="6886575" cy="304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8"/>
              </a:lnSpc>
            </a:pPr>
            <a:r>
              <a:rPr lang="en-US" sz="2124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Windows es un sistema operativo comercial, ampliamente utilizado en computadores personales por su facilidad de uso y compatibilidad directa con programas de oficina, diseño y videojuegos. Suele ser el entorno más intuitivo y sencillo para usuarios principiantes.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545604" y="4109218"/>
            <a:ext cx="6735842" cy="414338"/>
            <a:chOff x="0" y="0"/>
            <a:chExt cx="8981122" cy="552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81186" cy="552450"/>
            </a:xfrm>
            <a:custGeom>
              <a:avLst/>
              <a:gdLst/>
              <a:ahLst/>
              <a:cxnLst/>
              <a:rect r="r" b="b" t="t" l="l"/>
              <a:pathLst>
                <a:path h="552450" w="8981186">
                  <a:moveTo>
                    <a:pt x="0" y="0"/>
                  </a:moveTo>
                  <a:lnTo>
                    <a:pt x="8981186" y="0"/>
                  </a:lnTo>
                  <a:lnTo>
                    <a:pt x="8981186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6544" r="0" b="-26654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898498" y="3901602"/>
            <a:ext cx="6735842" cy="414338"/>
            <a:chOff x="0" y="0"/>
            <a:chExt cx="8981122" cy="552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81122" cy="552451"/>
            </a:xfrm>
            <a:custGeom>
              <a:avLst/>
              <a:gdLst/>
              <a:ahLst/>
              <a:cxnLst/>
              <a:rect r="r" b="b" t="t" l="l"/>
              <a:pathLst>
                <a:path h="552451" w="8981122">
                  <a:moveTo>
                    <a:pt x="0" y="0"/>
                  </a:moveTo>
                  <a:lnTo>
                    <a:pt x="8981122" y="0"/>
                  </a:lnTo>
                  <a:lnTo>
                    <a:pt x="8981122" y="552451"/>
                  </a:lnTo>
                  <a:lnTo>
                    <a:pt x="0" y="55245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6765" r="0" b="-26676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981122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88A20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Entorno Linux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074116" y="4442593"/>
            <a:ext cx="6886575" cy="304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8"/>
              </a:lnSpc>
            </a:pPr>
            <a:r>
              <a:rPr lang="en-US" sz="2124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Por otro lado, Linux es un sistema operativo de código abierto, reconocido mundialmente por su alto estándar de seguridad, estabilidad y flexibilidad extrema. Es la opción preferida en servidores de red, programación y entornos corporativos avanzados, permitiendo una personalización total del sistema.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5866" y="2102939"/>
            <a:ext cx="17072134" cy="671512"/>
            <a:chOff x="0" y="0"/>
            <a:chExt cx="22762845" cy="895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5031" r="0" b="-44503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5866" y="2102939"/>
            <a:ext cx="17072134" cy="671512"/>
            <a:chOff x="0" y="0"/>
            <a:chExt cx="22762845" cy="8953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762845" cy="895349"/>
            </a:xfrm>
            <a:custGeom>
              <a:avLst/>
              <a:gdLst/>
              <a:ahLst/>
              <a:cxnLst/>
              <a:rect r="r" b="b" t="t" l="l"/>
              <a:pathLst>
                <a:path h="89534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49"/>
                  </a:lnTo>
                  <a:lnTo>
                    <a:pt x="0" y="895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6. ¿Qué diferencia existe entre Windows y Linux?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A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190" y="3929062"/>
            <a:ext cx="5181695" cy="3671888"/>
            <a:chOff x="0" y="0"/>
            <a:chExt cx="6908927" cy="48958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4895850"/>
            </a:xfrm>
            <a:custGeom>
              <a:avLst/>
              <a:gdLst/>
              <a:ahLst/>
              <a:cxnLst/>
              <a:rect r="r" b="b" t="t" l="l"/>
              <a:pathLst>
                <a:path h="48958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4895850"/>
                  </a:lnTo>
                  <a:lnTo>
                    <a:pt x="0" y="489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2" t="0" r="-18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7054" y="3929062"/>
            <a:ext cx="5181695" cy="3671888"/>
            <a:chOff x="0" y="0"/>
            <a:chExt cx="6908927" cy="4895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4895850"/>
            </a:xfrm>
            <a:custGeom>
              <a:avLst/>
              <a:gdLst/>
              <a:ahLst/>
              <a:cxnLst/>
              <a:rect r="r" b="b" t="t" l="l"/>
              <a:pathLst>
                <a:path h="48958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4895850"/>
                  </a:lnTo>
                  <a:lnTo>
                    <a:pt x="0" y="489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2" t="0" r="-18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15918" y="3929062"/>
            <a:ext cx="5181695" cy="3671888"/>
            <a:chOff x="0" y="0"/>
            <a:chExt cx="6908927" cy="4895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4895850"/>
            </a:xfrm>
            <a:custGeom>
              <a:avLst/>
              <a:gdLst/>
              <a:ahLst/>
              <a:cxnLst/>
              <a:rect r="r" b="b" t="t" l="l"/>
              <a:pathLst>
                <a:path h="48958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4895850"/>
                  </a:lnTo>
                  <a:lnTo>
                    <a:pt x="0" y="489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2" t="0" r="-18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8190" y="1345692"/>
            <a:ext cx="16259175" cy="1640396"/>
            <a:chOff x="0" y="0"/>
            <a:chExt cx="21678900" cy="218719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2187194"/>
            </a:xfrm>
            <a:custGeom>
              <a:avLst/>
              <a:gdLst/>
              <a:ahLst/>
              <a:cxnLst/>
              <a:rect r="r" b="b" t="t" l="l"/>
              <a:pathLst>
                <a:path h="2187194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187194"/>
                  </a:lnTo>
                  <a:lnTo>
                    <a:pt x="0" y="21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62" r="0" b="-86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43162" y="225923"/>
            <a:ext cx="7858125" cy="1459992"/>
            <a:chOff x="0" y="0"/>
            <a:chExt cx="10477500" cy="194665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1946656"/>
            </a:xfrm>
            <a:custGeom>
              <a:avLst/>
              <a:gdLst/>
              <a:ahLst/>
              <a:cxnLst/>
              <a:rect r="r" b="b" t="t" l="l"/>
              <a:pathLst>
                <a:path h="1946656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946656"/>
                  </a:lnTo>
                  <a:lnTo>
                    <a:pt x="0" y="194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97" r="0" b="-39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6421" y="4376376"/>
            <a:ext cx="282704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749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Núcleo (Kernel)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6421" y="5010150"/>
            <a:ext cx="4295851" cy="2354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099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La capa más profunda. Administra de forma directa todos los elementos del hardware y los procesos lógicos internos fundamentales.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58789" y="4376376"/>
            <a:ext cx="163324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749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9976" y="5010150"/>
            <a:ext cx="4295851" cy="187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099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Actúan como canales lógicos y API, facilitando la comunicación entre la capa de hardware y las aplicaciones del usuario.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4149" y="4376376"/>
            <a:ext cx="141882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749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63041" y="5010150"/>
            <a:ext cx="4295851" cy="187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099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Permite la interacción final del usuario con el software mediante ventanas visuales, iconos o consolas de comandos de texto.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38190" y="2369048"/>
            <a:ext cx="17072134" cy="671512"/>
            <a:chOff x="0" y="0"/>
            <a:chExt cx="22762845" cy="895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5031" r="0" b="-44503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38190" y="2369048"/>
            <a:ext cx="17072134" cy="671512"/>
            <a:chOff x="0" y="0"/>
            <a:chExt cx="22762845" cy="8953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62845" cy="895349"/>
            </a:xfrm>
            <a:custGeom>
              <a:avLst/>
              <a:gdLst/>
              <a:ahLst/>
              <a:cxnLst/>
              <a:rect r="r" b="b" t="t" l="l"/>
              <a:pathLst>
                <a:path h="89534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49"/>
                  </a:lnTo>
                  <a:lnTo>
                    <a:pt x="0" y="8953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7. ¿Cuántas capas tiene un sistema operativo?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866" y="3993356"/>
            <a:ext cx="5181695" cy="4014788"/>
            <a:chOff x="0" y="0"/>
            <a:chExt cx="6908927" cy="53530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2" t="0" r="-18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54730" y="3993356"/>
            <a:ext cx="5181695" cy="4014788"/>
            <a:chOff x="0" y="0"/>
            <a:chExt cx="6908927" cy="5353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2" t="0" r="-18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93594" y="3993356"/>
            <a:ext cx="5181695" cy="4014788"/>
            <a:chOff x="0" y="0"/>
            <a:chExt cx="6908927" cy="5353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2" t="0" r="-18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412" y="728662"/>
            <a:ext cx="16259175" cy="1406176"/>
            <a:chOff x="0" y="0"/>
            <a:chExt cx="21678900" cy="187490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1874901"/>
            </a:xfrm>
            <a:custGeom>
              <a:avLst/>
              <a:gdLst/>
              <a:ahLst/>
              <a:cxnLst/>
              <a:rect r="r" b="b" t="t" l="l"/>
              <a:pathLst>
                <a:path h="1874901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13" r="0" b="-71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212884" y="3885086"/>
            <a:ext cx="7858125" cy="1251299"/>
            <a:chOff x="0" y="0"/>
            <a:chExt cx="10477500" cy="166839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1668399"/>
            </a:xfrm>
            <a:custGeom>
              <a:avLst/>
              <a:gdLst/>
              <a:ahLst/>
              <a:cxnLst/>
              <a:rect r="r" b="b" t="t" l="l"/>
              <a:pathLst>
                <a:path h="166839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668399"/>
                  </a:lnTo>
                  <a:lnTo>
                    <a:pt x="0" y="1668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10" r="0" b="-81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15866" y="3278981"/>
            <a:ext cx="162591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624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Normalmente se consideran tres pilares principales: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3504" y="4950647"/>
            <a:ext cx="436641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449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Administración de sistema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8253" y="5612606"/>
            <a:ext cx="4295851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Controla los componentes físicos, periféricos de entrada/salida y las estructuras lógicas internas del hardware.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5785" y="4798219"/>
            <a:ext cx="451064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449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Administración de aplicación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97642" y="5955506"/>
            <a:ext cx="4295851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Se encarga de inicializar, asignar memoria y controlar la ejecución estable de todas las aplicaciones de usuario.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36506" y="4983956"/>
            <a:ext cx="451064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449">
                <a:solidFill>
                  <a:srgbClr val="88A2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Administración de programación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6506" y="5955506"/>
            <a:ext cx="4295851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999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Organiza los hilos de ejecución, planifica los ciclos del procesador y administra los flujos de código del sistema.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5866" y="1816894"/>
            <a:ext cx="17072134" cy="671512"/>
            <a:chOff x="0" y="0"/>
            <a:chExt cx="22762845" cy="8953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5031" r="0" b="-44503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5866" y="1816894"/>
            <a:ext cx="17072134" cy="671512"/>
            <a:chOff x="0" y="0"/>
            <a:chExt cx="22762845" cy="8953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62845" cy="895349"/>
            </a:xfrm>
            <a:custGeom>
              <a:avLst/>
              <a:gdLst/>
              <a:ahLst/>
              <a:cxnLst/>
              <a:rect r="r" b="b" t="t" l="l"/>
              <a:pathLst>
                <a:path h="895349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49"/>
                  </a:lnTo>
                  <a:lnTo>
                    <a:pt x="0" y="8953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8. Pilares de un sistema operativo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DAHKV5dPqIU</dc:identifier>
  <dcterms:modified xsi:type="dcterms:W3CDTF">2011-08-01T06:04:30Z</dcterms:modified>
  <cp:revision>1</cp:revision>
  <dc:title>Exposicion sistemas..pptx</dc:title>
</cp:coreProperties>
</file>