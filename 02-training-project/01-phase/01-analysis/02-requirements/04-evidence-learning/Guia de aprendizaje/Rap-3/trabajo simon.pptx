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ak Bold" charset="1" panose="00000000000000000000"/>
      <p:regular r:id="rId17"/>
    </p:embeddedFont>
    <p:embeddedFont>
      <p:font typeface="Open Sans Bold" charset="1" panose="020B0806030504020204"/>
      <p:regular r:id="rId18"/>
    </p:embeddedFont>
    <p:embeddedFont>
      <p:font typeface="Open Sans" charset="1" panose="020B0606030504020204"/>
      <p:regular r:id="rId19"/>
    </p:embeddedFont>
    <p:embeddedFont>
      <p:font typeface="Mak" charset="1" panose="00000000000000000000"/>
      <p:regular r:id="rId20"/>
    </p:embeddedFont>
    <p:embeddedFont>
      <p:font typeface="Gliker" charset="1" panose="00000500000000000000"/>
      <p:regular r:id="rId21"/>
    </p:embeddedFont>
    <p:embeddedFont>
      <p:font typeface="Gliker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-1314464" y="4327874"/>
            <a:ext cx="3617780" cy="0"/>
          </a:xfrm>
          <a:prstGeom prst="line">
            <a:avLst/>
          </a:prstGeom>
          <a:ln cap="flat" w="28575">
            <a:solidFill>
              <a:srgbClr val="35382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631260" y="879141"/>
            <a:ext cx="8145759" cy="8175488"/>
          </a:xfrm>
          <a:custGeom>
            <a:avLst/>
            <a:gdLst/>
            <a:ahLst/>
            <a:cxnLst/>
            <a:rect r="r" b="b" t="t" l="l"/>
            <a:pathLst>
              <a:path h="8175488" w="8145759">
                <a:moveTo>
                  <a:pt x="0" y="0"/>
                </a:moveTo>
                <a:lnTo>
                  <a:pt x="8145759" y="0"/>
                </a:lnTo>
                <a:lnTo>
                  <a:pt x="8145759" y="8175487"/>
                </a:lnTo>
                <a:lnTo>
                  <a:pt x="0" y="81754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8575" y="3340988"/>
            <a:ext cx="14680725" cy="281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0"/>
              </a:lnSpc>
            </a:pPr>
            <a:r>
              <a:rPr lang="en-US" b="true" sz="11368" spc="227">
                <a:solidFill>
                  <a:srgbClr val="35382F"/>
                </a:solidFill>
                <a:latin typeface="Mak Bold"/>
                <a:ea typeface="Mak Bold"/>
                <a:cs typeface="Mak Bold"/>
                <a:sym typeface="Mak Bold"/>
              </a:rPr>
              <a:t>CONSTRUYENDO UN SISTEMA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8251734">
            <a:off x="14494952" y="3928862"/>
            <a:ext cx="8145759" cy="8175488"/>
          </a:xfrm>
          <a:custGeom>
            <a:avLst/>
            <a:gdLst/>
            <a:ahLst/>
            <a:cxnLst/>
            <a:rect r="r" b="b" t="t" l="l"/>
            <a:pathLst>
              <a:path h="8175488" w="8145759">
                <a:moveTo>
                  <a:pt x="0" y="0"/>
                </a:moveTo>
                <a:lnTo>
                  <a:pt x="8145758" y="0"/>
                </a:lnTo>
                <a:lnTo>
                  <a:pt x="8145758" y="8175488"/>
                </a:lnTo>
                <a:lnTo>
                  <a:pt x="0" y="817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234792">
            <a:off x="10814028" y="-5155063"/>
            <a:ext cx="8145759" cy="8175488"/>
          </a:xfrm>
          <a:custGeom>
            <a:avLst/>
            <a:gdLst/>
            <a:ahLst/>
            <a:cxnLst/>
            <a:rect r="r" b="b" t="t" l="l"/>
            <a:pathLst>
              <a:path h="8175488" w="8145759">
                <a:moveTo>
                  <a:pt x="0" y="0"/>
                </a:moveTo>
                <a:lnTo>
                  <a:pt x="8145759" y="0"/>
                </a:lnTo>
                <a:lnTo>
                  <a:pt x="8145759" y="8175487"/>
                </a:lnTo>
                <a:lnTo>
                  <a:pt x="0" y="81754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86972" y="7250488"/>
            <a:ext cx="6436465" cy="5675792"/>
          </a:xfrm>
          <a:custGeom>
            <a:avLst/>
            <a:gdLst/>
            <a:ahLst/>
            <a:cxnLst/>
            <a:rect r="r" b="b" t="t" l="l"/>
            <a:pathLst>
              <a:path h="5675792" w="6436465">
                <a:moveTo>
                  <a:pt x="0" y="0"/>
                </a:moveTo>
                <a:lnTo>
                  <a:pt x="6436465" y="0"/>
                </a:lnTo>
                <a:lnTo>
                  <a:pt x="6436465" y="5675792"/>
                </a:lnTo>
                <a:lnTo>
                  <a:pt x="0" y="567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7423" y="-2201106"/>
            <a:ext cx="6436465" cy="5675792"/>
          </a:xfrm>
          <a:custGeom>
            <a:avLst/>
            <a:gdLst/>
            <a:ahLst/>
            <a:cxnLst/>
            <a:rect r="r" b="b" t="t" l="l"/>
            <a:pathLst>
              <a:path h="5675792" w="6436465">
                <a:moveTo>
                  <a:pt x="0" y="0"/>
                </a:moveTo>
                <a:lnTo>
                  <a:pt x="6436465" y="0"/>
                </a:lnTo>
                <a:lnTo>
                  <a:pt x="6436465" y="5675793"/>
                </a:lnTo>
                <a:lnTo>
                  <a:pt x="0" y="56757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50443" y="7250488"/>
            <a:ext cx="6436465" cy="5675792"/>
          </a:xfrm>
          <a:custGeom>
            <a:avLst/>
            <a:gdLst/>
            <a:ahLst/>
            <a:cxnLst/>
            <a:rect r="r" b="b" t="t" l="l"/>
            <a:pathLst>
              <a:path h="5675792" w="6436465">
                <a:moveTo>
                  <a:pt x="0" y="0"/>
                </a:moveTo>
                <a:lnTo>
                  <a:pt x="6436465" y="0"/>
                </a:lnTo>
                <a:lnTo>
                  <a:pt x="6436465" y="5675792"/>
                </a:lnTo>
                <a:lnTo>
                  <a:pt x="0" y="567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275585">
            <a:off x="12011241" y="865203"/>
            <a:ext cx="3524482" cy="4604430"/>
          </a:xfrm>
          <a:custGeom>
            <a:avLst/>
            <a:gdLst/>
            <a:ahLst/>
            <a:cxnLst/>
            <a:rect r="r" b="b" t="t" l="l"/>
            <a:pathLst>
              <a:path h="4604430" w="3524482">
                <a:moveTo>
                  <a:pt x="0" y="0"/>
                </a:moveTo>
                <a:lnTo>
                  <a:pt x="3524482" y="0"/>
                </a:lnTo>
                <a:lnTo>
                  <a:pt x="3524482" y="4604430"/>
                </a:lnTo>
                <a:lnTo>
                  <a:pt x="0" y="4604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A685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-1314464" y="4327874"/>
            <a:ext cx="361778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6947158" y="2943418"/>
            <a:ext cx="312142" cy="312142"/>
            <a:chOff x="0" y="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947158" y="3544514"/>
            <a:ext cx="312142" cy="312142"/>
            <a:chOff x="0" y="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947158" y="4161206"/>
            <a:ext cx="312142" cy="312142"/>
            <a:chOff x="0" y="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947158" y="4720747"/>
            <a:ext cx="312142" cy="312142"/>
            <a:chOff x="0" y="0"/>
            <a:chExt cx="6355080" cy="6355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6947158" y="5254111"/>
            <a:ext cx="312142" cy="312142"/>
            <a:chOff x="0" y="0"/>
            <a:chExt cx="6355080" cy="6355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6947158" y="5855206"/>
            <a:ext cx="312142" cy="312142"/>
            <a:chOff x="0" y="0"/>
            <a:chExt cx="6355080" cy="6355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6947158" y="6471898"/>
            <a:ext cx="312142" cy="312142"/>
            <a:chOff x="0" y="0"/>
            <a:chExt cx="6355080" cy="6355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24417" y="962025"/>
            <a:ext cx="6395694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¿Qué si</a:t>
            </a:r>
            <a:r>
              <a:rPr lang="en-US" b="true" sz="3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gnifica SDLC y cuál es su objetivo principal?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43188" y="752733"/>
            <a:ext cx="5253374" cy="178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las 7 fases p</a:t>
            </a:r>
            <a:r>
              <a:rPr lang="en-US" b="true" sz="3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rincipales del desarrollo de software.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9913" y="2886268"/>
            <a:ext cx="5624703" cy="5424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3"/>
              </a:lnSpc>
            </a:pPr>
            <a:r>
              <a:rPr lang="en-US" sz="32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Ciclo d</a:t>
            </a:r>
            <a:r>
              <a:rPr lang="en-US" sz="320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Vida del Desarrollo de Software</a:t>
            </a:r>
          </a:p>
          <a:p>
            <a:pPr algn="ctr">
              <a:lnSpc>
                <a:spcPts val="4228"/>
              </a:lnSpc>
            </a:pPr>
            <a:r>
              <a:rPr lang="en-US" sz="302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 una guia que sirve para dar el paso a paso de lo que debemos seguir para crear un programa o tambien apliación  desde la idea inicial hasta el mantenimiento.</a:t>
            </a:r>
          </a:p>
          <a:p>
            <a:pPr algn="ctr">
              <a:lnSpc>
                <a:spcPts val="4493"/>
              </a:lnSpc>
            </a:pPr>
          </a:p>
          <a:p>
            <a:pPr algn="ctr">
              <a:lnSpc>
                <a:spcPts val="449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943188" y="3091799"/>
            <a:ext cx="5797821" cy="40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21147" indent="-310574" lvl="1">
              <a:lnSpc>
                <a:spcPts val="4027"/>
              </a:lnSpc>
              <a:buFont typeface="Arial"/>
              <a:buChar char="•"/>
            </a:pPr>
            <a:r>
              <a:rPr lang="en-US" sz="28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Planificación</a:t>
            </a:r>
          </a:p>
          <a:p>
            <a:pPr algn="ctr" marL="621147" indent="-310574" lvl="1">
              <a:lnSpc>
                <a:spcPts val="4027"/>
              </a:lnSpc>
              <a:buFont typeface="Arial"/>
              <a:buChar char="•"/>
            </a:pPr>
            <a:r>
              <a:rPr lang="en-US" sz="28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Análisis de requisitos</a:t>
            </a:r>
          </a:p>
          <a:p>
            <a:pPr algn="ctr" marL="621147" indent="-310574" lvl="1">
              <a:lnSpc>
                <a:spcPts val="4027"/>
              </a:lnSpc>
              <a:buFont typeface="Arial"/>
              <a:buChar char="•"/>
            </a:pPr>
            <a:r>
              <a:rPr lang="en-US" sz="28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Diseño del sistema</a:t>
            </a:r>
          </a:p>
          <a:p>
            <a:pPr algn="ctr" marL="621147" indent="-310574" lvl="1">
              <a:lnSpc>
                <a:spcPts val="4027"/>
              </a:lnSpc>
              <a:buFont typeface="Arial"/>
              <a:buChar char="•"/>
            </a:pPr>
            <a:r>
              <a:rPr lang="en-US" sz="28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(Codificación)</a:t>
            </a:r>
          </a:p>
          <a:p>
            <a:pPr algn="ctr" marL="621147" indent="-310574" lvl="1">
              <a:lnSpc>
                <a:spcPts val="4027"/>
              </a:lnSpc>
              <a:buFont typeface="Arial"/>
              <a:buChar char="•"/>
            </a:pPr>
            <a:r>
              <a:rPr lang="en-US" sz="28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 (Testing)</a:t>
            </a:r>
          </a:p>
          <a:p>
            <a:pPr algn="ctr" marL="621147" indent="-310574" lvl="1">
              <a:lnSpc>
                <a:spcPts val="4027"/>
              </a:lnSpc>
              <a:buFont typeface="Arial"/>
              <a:buChar char="•"/>
            </a:pPr>
            <a:r>
              <a:rPr lang="en-US" sz="28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Implementación (Deployment)</a:t>
            </a:r>
          </a:p>
          <a:p>
            <a:pPr algn="ctr" marL="621147" indent="-310574" lvl="1">
              <a:lnSpc>
                <a:spcPts val="4027"/>
              </a:lnSpc>
              <a:buFont typeface="Arial"/>
              <a:buChar char="•"/>
            </a:pPr>
            <a:r>
              <a:rPr lang="en-US" sz="28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Mantenimiento</a:t>
            </a:r>
          </a:p>
          <a:p>
            <a:pPr algn="ctr">
              <a:lnSpc>
                <a:spcPts val="402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A685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947158" y="3544514"/>
            <a:ext cx="312142" cy="312142"/>
            <a:chOff x="0" y="0"/>
            <a:chExt cx="6355080" cy="6355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947158" y="4161206"/>
            <a:ext cx="312142" cy="312142"/>
            <a:chOff x="0" y="0"/>
            <a:chExt cx="6355080" cy="6355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947158" y="4720747"/>
            <a:ext cx="312142" cy="312142"/>
            <a:chOff x="0" y="0"/>
            <a:chExt cx="6355080" cy="6355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6947158" y="5254111"/>
            <a:ext cx="312142" cy="312142"/>
            <a:chOff x="0" y="0"/>
            <a:chExt cx="6355080" cy="6355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6947158" y="5855206"/>
            <a:ext cx="312142" cy="312142"/>
            <a:chOff x="0" y="0"/>
            <a:chExt cx="6355080" cy="6355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947158" y="6471898"/>
            <a:ext cx="312142" cy="312142"/>
            <a:chOff x="0" y="0"/>
            <a:chExt cx="6355080" cy="6355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6947158" y="7031439"/>
            <a:ext cx="312142" cy="312142"/>
            <a:chOff x="0" y="0"/>
            <a:chExt cx="6355080" cy="6355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947158" y="2981495"/>
            <a:ext cx="312142" cy="312142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sp>
        <p:nvSpPr>
          <p:cNvPr name="AutoShape 18" id="18"/>
          <p:cNvSpPr/>
          <p:nvPr/>
        </p:nvSpPr>
        <p:spPr>
          <a:xfrm rot="-5400000">
            <a:off x="-1314464" y="4327874"/>
            <a:ext cx="361778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-5400000">
            <a:off x="-2373588" y="6109974"/>
            <a:ext cx="569792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3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BUSINESS PLAN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2917" y="2173186"/>
            <a:ext cx="6162382" cy="186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0"/>
              </a:lnSpc>
            </a:pPr>
            <a:r>
              <a:rPr lang="en-US" sz="3564">
                <a:solidFill>
                  <a:srgbClr val="35382F"/>
                </a:solidFill>
                <a:latin typeface="Gliker"/>
                <a:ea typeface="Gliker"/>
                <a:cs typeface="Gliker"/>
                <a:sym typeface="Gliker"/>
              </a:rPr>
              <a:t>?Po</a:t>
            </a:r>
            <a:r>
              <a:rPr lang="en-US" sz="3564">
                <a:solidFill>
                  <a:srgbClr val="35382F"/>
                </a:solidFill>
                <a:latin typeface="Gliker"/>
                <a:ea typeface="Gliker"/>
                <a:cs typeface="Gliker"/>
                <a:sym typeface="Gliker"/>
              </a:rPr>
              <a:t>r qué es importante definir bien el alcance de un proyecto?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5713" y="4810143"/>
            <a:ext cx="6239585" cy="325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Es importante defini</a:t>
            </a:r>
            <a:r>
              <a:rPr lang="en-US" sz="36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r el alcance porque evita confusiones y asegura que el proyecto cumpla lo que el cliente necesita.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0" y="2017368"/>
            <a:ext cx="3759017" cy="927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1"/>
              </a:lnSpc>
            </a:pPr>
            <a:r>
              <a:rPr lang="en-US" b="true" sz="5422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Requisitos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88541" y="3877310"/>
            <a:ext cx="7975374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a) El sistema debe permitir iniciar sesión con correo y contraseña. RF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 b) El sistema debe responder en menos de 2 se</a:t>
            </a: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gundos. RNF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c) El sistema debe permitir registrar pagos mensuales. RF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d) El sistema debe soportar 500 usuarios conectados al mismo tiempo.RNF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A685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947158" y="4161206"/>
            <a:ext cx="312142" cy="312142"/>
            <a:chOff x="0" y="0"/>
            <a:chExt cx="6355080" cy="6355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947158" y="4720747"/>
            <a:ext cx="312142" cy="312142"/>
            <a:chOff x="0" y="0"/>
            <a:chExt cx="6355080" cy="6355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947158" y="5254111"/>
            <a:ext cx="312142" cy="312142"/>
            <a:chOff x="0" y="0"/>
            <a:chExt cx="6355080" cy="6355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6947158" y="5855206"/>
            <a:ext cx="312142" cy="312142"/>
            <a:chOff x="0" y="0"/>
            <a:chExt cx="6355080" cy="6355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6947158" y="6471898"/>
            <a:ext cx="312142" cy="312142"/>
            <a:chOff x="0" y="0"/>
            <a:chExt cx="6355080" cy="6355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947158" y="7031439"/>
            <a:ext cx="312142" cy="312142"/>
            <a:chOff x="0" y="0"/>
            <a:chExt cx="6355080" cy="6355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47158" y="2981495"/>
            <a:ext cx="312142" cy="312142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947158" y="3562610"/>
            <a:ext cx="312142" cy="312142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sp>
        <p:nvSpPr>
          <p:cNvPr name="AutoShape 18" id="18"/>
          <p:cNvSpPr/>
          <p:nvPr/>
        </p:nvSpPr>
        <p:spPr>
          <a:xfrm rot="-5400000">
            <a:off x="-1314464" y="4327874"/>
            <a:ext cx="361778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-5400000">
            <a:off x="-2373588" y="6109974"/>
            <a:ext cx="569792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3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BUSINESS PLAN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85841" y="537527"/>
            <a:ext cx="639316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</a:t>
            </a:r>
            <a:r>
              <a:rPr lang="en-US" b="true" sz="5199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eño del Sistema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948216"/>
            <a:ext cx="7362743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HLD (Diseño de </a:t>
            </a: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Alto Nivel): visión general del sistema, cómo se organizan sus partes.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 LLD (Diseño de Bajo Nivel): detalles de cada parte, funciones y datos.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4178" y="2003403"/>
            <a:ext cx="6651787" cy="188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609" b="true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dife</a:t>
            </a:r>
            <a:r>
              <a:rPr lang="en-US" b="true" sz="3609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rencia entre Diseño de Alto Nivel (HLD) y Diseño de Bajo Nivel (LLD)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61221" y="5756753"/>
            <a:ext cx="8115283" cy="151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sz="2885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Es el pat</a:t>
            </a:r>
            <a:r>
              <a:rPr lang="en-US" sz="2885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rón es MVC Modelo–Vista–Controlador.</a:t>
            </a:r>
          </a:p>
          <a:p>
            <a:pPr algn="ctr">
              <a:lnSpc>
                <a:spcPts val="4039"/>
              </a:lnSpc>
            </a:pPr>
          </a:p>
          <a:p>
            <a:pPr algn="ctr">
              <a:lnSpc>
                <a:spcPts val="403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1936115"/>
            <a:ext cx="7393685" cy="320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¿Cuál pat</a:t>
            </a:r>
            <a:r>
              <a:rPr lang="en-US" b="true" sz="4600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rón arquitectónico separa la aplicación en Modelo, Vista y Controlador?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A685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7559789" y="4720747"/>
            <a:ext cx="312142" cy="312142"/>
            <a:chOff x="0" y="0"/>
            <a:chExt cx="6355080" cy="6355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7559789" y="5254111"/>
            <a:ext cx="312142" cy="312142"/>
            <a:chOff x="0" y="0"/>
            <a:chExt cx="6355080" cy="6355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7559789" y="5855206"/>
            <a:ext cx="312142" cy="312142"/>
            <a:chOff x="0" y="0"/>
            <a:chExt cx="6355080" cy="6355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559789" y="6471898"/>
            <a:ext cx="312142" cy="312142"/>
            <a:chOff x="0" y="0"/>
            <a:chExt cx="6355080" cy="6355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7559789" y="7031439"/>
            <a:ext cx="312142" cy="312142"/>
            <a:chOff x="0" y="0"/>
            <a:chExt cx="6355080" cy="6355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559789" y="2981495"/>
            <a:ext cx="312142" cy="312142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559789" y="3584202"/>
            <a:ext cx="312142" cy="312142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559789" y="4191619"/>
            <a:ext cx="312142" cy="312142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sp>
        <p:nvSpPr>
          <p:cNvPr name="AutoShape 18" id="18"/>
          <p:cNvSpPr/>
          <p:nvPr/>
        </p:nvSpPr>
        <p:spPr>
          <a:xfrm rot="-5400000">
            <a:off x="-1314464" y="4327874"/>
            <a:ext cx="361778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-5400000">
            <a:off x="-2373588" y="6109974"/>
            <a:ext cx="569792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3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BUSINESS PLAN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8238" y="1329373"/>
            <a:ext cx="88879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Implem</a:t>
            </a:r>
            <a:r>
              <a:rPr lang="en-US" b="true" sz="5199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entación y Código.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2032" y="4962967"/>
            <a:ext cx="8460374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gnifica escribir código limpio, ordenado y fácil de entender. La idea es que cualquier programador pueda leerlo y modificarlo sin confundirse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6541" y="2802465"/>
            <a:ext cx="85396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¿Qué es Clean Code?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93305" y="1329373"/>
            <a:ext cx="85396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</a:t>
            </a:r>
            <a:r>
              <a:rPr lang="en-US" b="true" sz="5199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ruebas y Calidad.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13409" y="2224911"/>
            <a:ext cx="5415382" cy="2651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1"/>
              </a:lnSpc>
            </a:pPr>
            <a:r>
              <a:rPr lang="en-US" sz="3772" b="true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p</a:t>
            </a:r>
            <a:r>
              <a:rPr lang="en-US" b="true" sz="3772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ruebas validan funciones o métodos individuales del código?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99889" y="5159510"/>
            <a:ext cx="6932895" cy="401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5"/>
              </a:lnSpc>
            </a:pPr>
            <a:r>
              <a:rPr lang="en-US" sz="3261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3261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ruebas unitarias: revisan funciones o métodos pequeños del código.</a:t>
            </a:r>
          </a:p>
          <a:p>
            <a:pPr algn="ctr">
              <a:lnSpc>
                <a:spcPts val="4565"/>
              </a:lnSpc>
            </a:pPr>
            <a:r>
              <a:rPr lang="en-US" sz="3261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Pruebas de integración: verifican que los módulos trabajen bien juntos.</a:t>
            </a:r>
          </a:p>
          <a:p>
            <a:pPr algn="ctr">
              <a:lnSpc>
                <a:spcPts val="456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A685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7534263" y="5166188"/>
            <a:ext cx="312142" cy="312142"/>
            <a:chOff x="0" y="0"/>
            <a:chExt cx="6355080" cy="6355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7534263" y="5767283"/>
            <a:ext cx="312142" cy="312142"/>
            <a:chOff x="0" y="0"/>
            <a:chExt cx="6355080" cy="6355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7534263" y="6383975"/>
            <a:ext cx="312142" cy="312142"/>
            <a:chOff x="0" y="0"/>
            <a:chExt cx="6355080" cy="6355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534263" y="6943516"/>
            <a:ext cx="312142" cy="312142"/>
            <a:chOff x="0" y="0"/>
            <a:chExt cx="6355080" cy="6355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534263" y="2895844"/>
            <a:ext cx="312142" cy="312142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534263" y="3474687"/>
            <a:ext cx="312142" cy="312142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534263" y="4031985"/>
            <a:ext cx="312142" cy="312142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534263" y="4586655"/>
            <a:ext cx="312142" cy="312142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sp>
        <p:nvSpPr>
          <p:cNvPr name="AutoShape 18" id="18"/>
          <p:cNvSpPr/>
          <p:nvPr/>
        </p:nvSpPr>
        <p:spPr>
          <a:xfrm rot="-5400000">
            <a:off x="-1314464" y="4327874"/>
            <a:ext cx="361778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-5400000">
            <a:off x="-2373588" y="6109974"/>
            <a:ext cx="569792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3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BUSINESS PLAN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0631" y="2190246"/>
            <a:ext cx="4801105" cy="61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1"/>
              </a:lnSpc>
            </a:pPr>
            <a:r>
              <a:rPr lang="en-US" sz="3629" b="true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si</a:t>
            </a:r>
            <a:r>
              <a:rPr lang="en-US" b="true" sz="3629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gnifica CI/CD?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9053" y="2951144"/>
            <a:ext cx="658845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CI/CD: inte</a:t>
            </a: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gración y entrega continua, para automatizar pruebas y despliegues.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21184" y="537527"/>
            <a:ext cx="947142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Despli</a:t>
            </a:r>
            <a:r>
              <a:rPr lang="en-US" b="true" sz="5199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egue y Mantenimiento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77512" y="2136490"/>
            <a:ext cx="10061097" cy="100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2860" b="true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¿Qué her</a:t>
            </a:r>
            <a:r>
              <a:rPr lang="en-US" b="true" sz="2860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ramienta permite empaquetar aplicaciones en contenedores?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3541719"/>
            <a:ext cx="723029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Docke</a:t>
            </a: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r porque usa porque permite empaquetar aplicaciones dentro de contenedores.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25437" y="5722309"/>
            <a:ext cx="11792102" cy="1173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4"/>
              </a:lnSpc>
            </a:pPr>
            <a:r>
              <a:rPr lang="en-US" sz="3352" b="true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Explica la dife</a:t>
            </a:r>
            <a:r>
              <a:rPr lang="en-US" b="true" sz="3352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rencia entre mantenimiento correctivo y mantenimiento evolutivo.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66357" y="7600163"/>
            <a:ext cx="1440170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Correctivo: arreglar errores antes del despliegue.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 Evolutivo: a</a:t>
            </a: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gregar mejoras o nuevas funciones despues del despliegue.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A685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947158" y="5855206"/>
            <a:ext cx="312142" cy="312142"/>
            <a:chOff x="0" y="0"/>
            <a:chExt cx="6355080" cy="6355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947158" y="6471898"/>
            <a:ext cx="312142" cy="312142"/>
            <a:chOff x="0" y="0"/>
            <a:chExt cx="6355080" cy="6355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947158" y="7031439"/>
            <a:ext cx="312142" cy="312142"/>
            <a:chOff x="0" y="0"/>
            <a:chExt cx="6355080" cy="6355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47158" y="2981495"/>
            <a:ext cx="312142" cy="312142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947158" y="3562610"/>
            <a:ext cx="312142" cy="312142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947158" y="4119908"/>
            <a:ext cx="312142" cy="312142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47158" y="4674578"/>
            <a:ext cx="312142" cy="312142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947158" y="5260731"/>
            <a:ext cx="312142" cy="312142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sp>
        <p:nvSpPr>
          <p:cNvPr name="AutoShape 18" id="18"/>
          <p:cNvSpPr/>
          <p:nvPr/>
        </p:nvSpPr>
        <p:spPr>
          <a:xfrm rot="-5400000">
            <a:off x="-1314464" y="4327874"/>
            <a:ext cx="361778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-5400000">
            <a:off x="-2373588" y="6109974"/>
            <a:ext cx="569792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3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BUSINESS PLAN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75922" y="555167"/>
            <a:ext cx="12536156" cy="123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0"/>
              </a:lnSpc>
            </a:pPr>
            <a:r>
              <a:rPr lang="en-US" sz="3564" b="true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Ima</a:t>
            </a:r>
            <a:r>
              <a:rPr lang="en-US" b="true" sz="3564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gina que una aplicación bancaria falla porque no soporta muchos usuarios conectados al tiempo.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99607" y="2052205"/>
            <a:ext cx="6677320" cy="1763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7"/>
              </a:lnSpc>
            </a:pPr>
            <a:r>
              <a:rPr lang="en-US" sz="5055" b="true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tipo de </a:t>
            </a:r>
            <a:r>
              <a:rPr lang="en-US" b="true" sz="5055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 falló?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76927" y="2370670"/>
            <a:ext cx="7564320" cy="145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1"/>
              </a:lnSpc>
            </a:pPr>
            <a:r>
              <a:rPr lang="en-US" sz="4186" b="true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¿En</a:t>
            </a:r>
            <a:r>
              <a:rPr lang="en-US" b="true" sz="4186">
                <a:solidFill>
                  <a:srgbClr val="3538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qué fase del SDLC debió detectarse ese problema?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1782" y="4830812"/>
            <a:ext cx="699297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Falló un </a:t>
            </a: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requisito no funcional capacidad de usuarios.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11945" y="4830812"/>
            <a:ext cx="795802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Debió detecta</a:t>
            </a:r>
            <a:r>
              <a:rPr lang="en-US" sz="3399">
                <a:solidFill>
                  <a:srgbClr val="35382F"/>
                </a:solidFill>
                <a:latin typeface="Open Sans"/>
                <a:ea typeface="Open Sans"/>
                <a:cs typeface="Open Sans"/>
                <a:sym typeface="Open Sans"/>
              </a:rPr>
              <a:t>rse en la fase de Pruebas o en el Análisis de requisitos.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8683" y="0"/>
            <a:ext cx="5947247" cy="5143500"/>
            <a:chOff x="0" y="0"/>
            <a:chExt cx="7929663" cy="6858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1457" t="0" r="11457" b="0"/>
            <a:stretch>
              <a:fillRect/>
            </a:stretch>
          </p:blipFill>
          <p:spPr>
            <a:xfrm flipH="false" flipV="false">
              <a:off x="0" y="0"/>
              <a:ext cx="7929663" cy="6858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7255930" y="0"/>
            <a:ext cx="606605" cy="10378597"/>
            <a:chOff x="0" y="0"/>
            <a:chExt cx="205197" cy="35107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5197" cy="3510785"/>
            </a:xfrm>
            <a:custGeom>
              <a:avLst/>
              <a:gdLst/>
              <a:ahLst/>
              <a:cxnLst/>
              <a:rect r="r" b="b" t="t" l="l"/>
              <a:pathLst>
                <a:path h="3510785" w="205197">
                  <a:moveTo>
                    <a:pt x="0" y="0"/>
                  </a:moveTo>
                  <a:lnTo>
                    <a:pt x="205197" y="0"/>
                  </a:lnTo>
                  <a:lnTo>
                    <a:pt x="205197" y="3510785"/>
                  </a:lnTo>
                  <a:lnTo>
                    <a:pt x="0" y="3510785"/>
                  </a:lnTo>
                  <a:close/>
                </a:path>
              </a:pathLst>
            </a:custGeom>
            <a:solidFill>
              <a:srgbClr val="A6856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08683" y="5143500"/>
            <a:ext cx="5947247" cy="5143500"/>
            <a:chOff x="0" y="0"/>
            <a:chExt cx="7929663" cy="685800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3"/>
            <a:srcRect l="11698" t="0" r="11698" b="0"/>
            <a:stretch>
              <a:fillRect/>
            </a:stretch>
          </p:blipFill>
          <p:spPr>
            <a:xfrm flipH="false" flipV="false">
              <a:off x="0" y="0"/>
              <a:ext cx="7929663" cy="6858000"/>
            </a:xfrm>
            <a:prstGeom prst="rect">
              <a:avLst/>
            </a:prstGeom>
          </p:spPr>
        </p:pic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6947158" y="6471898"/>
            <a:ext cx="312142" cy="312142"/>
            <a:chOff x="0" y="0"/>
            <a:chExt cx="6355080" cy="6355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6947158" y="7031439"/>
            <a:ext cx="312142" cy="312142"/>
            <a:chOff x="0" y="0"/>
            <a:chExt cx="6355080" cy="6355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947158" y="2981495"/>
            <a:ext cx="312142" cy="312142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47158" y="3562610"/>
            <a:ext cx="312142" cy="312142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947158" y="4119908"/>
            <a:ext cx="312142" cy="312142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947158" y="4674578"/>
            <a:ext cx="312142" cy="312142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947158" y="5260731"/>
            <a:ext cx="312142" cy="312142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947158" y="5838909"/>
            <a:ext cx="312142" cy="312142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-5400000">
            <a:off x="-906504" y="1575348"/>
            <a:ext cx="2716133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spc="253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2022</a:t>
            </a:r>
          </a:p>
        </p:txBody>
      </p:sp>
      <p:sp>
        <p:nvSpPr>
          <p:cNvPr name="AutoShape 25" id="25"/>
          <p:cNvSpPr/>
          <p:nvPr/>
        </p:nvSpPr>
        <p:spPr>
          <a:xfrm rot="-5400000">
            <a:off x="-1314464" y="4327874"/>
            <a:ext cx="361778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8579117" y="1357915"/>
            <a:ext cx="7735460" cy="95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34"/>
              </a:lnSpc>
            </a:pPr>
            <a:r>
              <a:rPr lang="en-US" b="true" sz="6936" spc="138">
                <a:solidFill>
                  <a:srgbClr val="35382F"/>
                </a:solidFill>
                <a:latin typeface="Mak Bold"/>
                <a:ea typeface="Mak Bold"/>
                <a:cs typeface="Mak Bold"/>
                <a:sym typeface="Mak Bold"/>
              </a:rPr>
              <a:t>PRESUPUESTO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08862" y="3073478"/>
            <a:ext cx="5371393" cy="415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u="none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Resumen presupuestario: </a:t>
            </a:r>
          </a:p>
          <a:p>
            <a:pPr algn="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u="none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1. Personas influyentes en redes sociales - 8000€</a:t>
            </a:r>
          </a:p>
          <a:p>
            <a:pPr algn="r" marL="0" indent="0" lvl="0">
              <a:lnSpc>
                <a:spcPts val="3639"/>
              </a:lnSpc>
              <a:spcBef>
                <a:spcPct val="0"/>
              </a:spcBef>
            </a:pPr>
          </a:p>
          <a:p>
            <a:pPr algn="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u="none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2. Anuncios en redes sociales - 14 000€</a:t>
            </a:r>
          </a:p>
          <a:p>
            <a:pPr algn="r" marL="0" indent="0" lvl="0">
              <a:lnSpc>
                <a:spcPts val="3639"/>
              </a:lnSpc>
              <a:spcBef>
                <a:spcPct val="0"/>
              </a:spcBef>
            </a:pPr>
          </a:p>
          <a:p>
            <a:pPr algn="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u="none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3. Motores de búsqueda - 8 000€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-2373588" y="6109974"/>
            <a:ext cx="569792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3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BUSINESS PLAN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9144000" cy="5143500"/>
          </a:xfrm>
          <a:prstGeom prst="rect">
            <a:avLst/>
          </a:prstGeom>
          <a:solidFill>
            <a:srgbClr val="A68562"/>
          </a:solidFill>
        </p:spPr>
      </p:sp>
      <p:sp>
        <p:nvSpPr>
          <p:cNvPr name="AutoShape 3" id="3"/>
          <p:cNvSpPr/>
          <p:nvPr/>
        </p:nvSpPr>
        <p:spPr>
          <a:xfrm rot="0">
            <a:off x="9144000" y="5143500"/>
            <a:ext cx="9144000" cy="5143500"/>
          </a:xfrm>
          <a:prstGeom prst="rect">
            <a:avLst/>
          </a:prstGeom>
          <a:solidFill>
            <a:srgbClr val="684B2B">
              <a:alpha val="73725"/>
            </a:srgbClr>
          </a:solidFill>
        </p:spPr>
      </p:sp>
      <p:grpSp>
        <p:nvGrpSpPr>
          <p:cNvPr name="Group 4" id="4"/>
          <p:cNvGrpSpPr/>
          <p:nvPr/>
        </p:nvGrpSpPr>
        <p:grpSpPr>
          <a:xfrm rot="0">
            <a:off x="1028700" y="1411685"/>
            <a:ext cx="6834439" cy="1754980"/>
            <a:chOff x="0" y="0"/>
            <a:chExt cx="9112586" cy="233997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23825"/>
              <a:ext cx="9112586" cy="1444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0"/>
                </a:lnSpc>
              </a:pPr>
              <a:r>
                <a:rPr lang="en-US" sz="6500">
                  <a:solidFill>
                    <a:srgbClr val="FFFFFF"/>
                  </a:solidFill>
                  <a:latin typeface="Mak"/>
                  <a:ea typeface="Mak"/>
                  <a:cs typeface="Mak"/>
                  <a:sym typeface="Mak"/>
                </a:rPr>
                <a:t>PASO 1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071567" y="1541990"/>
              <a:ext cx="6969451" cy="797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3500">
                  <a:solidFill>
                    <a:srgbClr val="FFFFFF"/>
                  </a:solidFill>
                  <a:latin typeface="Mak"/>
                  <a:ea typeface="Mak"/>
                  <a:cs typeface="Mak"/>
                  <a:sym typeface="Mak"/>
                </a:rPr>
                <a:t>BUSCAR INFLUENCERS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98780" y="1411685"/>
            <a:ext cx="6834439" cy="2326480"/>
            <a:chOff x="0" y="0"/>
            <a:chExt cx="9112586" cy="310197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123825"/>
              <a:ext cx="9112586" cy="1444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0"/>
                </a:lnSpc>
              </a:pPr>
              <a:r>
                <a:rPr lang="en-US" sz="6500">
                  <a:solidFill>
                    <a:srgbClr val="000000"/>
                  </a:solidFill>
                  <a:latin typeface="Mak"/>
                  <a:ea typeface="Mak"/>
                  <a:cs typeface="Mak"/>
                  <a:sym typeface="Mak"/>
                </a:rPr>
                <a:t>Paso 2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71567" y="1541990"/>
              <a:ext cx="6969451" cy="1559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3500">
                  <a:solidFill>
                    <a:srgbClr val="000000"/>
                  </a:solidFill>
                  <a:latin typeface="Mak"/>
                  <a:ea typeface="Mak"/>
                  <a:cs typeface="Mak"/>
                  <a:sym typeface="Mak"/>
                </a:rPr>
                <a:t>NEGOCIAR CONTRATO</a:t>
              </a:r>
            </a:p>
            <a:p>
              <a:pPr algn="ctr">
                <a:lnSpc>
                  <a:spcPts val="455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6555185"/>
            <a:ext cx="6834439" cy="2326480"/>
            <a:chOff x="0" y="0"/>
            <a:chExt cx="9112586" cy="310197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23825"/>
              <a:ext cx="9112586" cy="1444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0"/>
                </a:lnSpc>
              </a:pPr>
              <a:r>
                <a:rPr lang="en-US" sz="6500">
                  <a:solidFill>
                    <a:srgbClr val="000000"/>
                  </a:solidFill>
                  <a:latin typeface="Mak"/>
                  <a:ea typeface="Mak"/>
                  <a:cs typeface="Mak"/>
                  <a:sym typeface="Mak"/>
                </a:rPr>
                <a:t>PASO 3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71567" y="1541990"/>
              <a:ext cx="6969451" cy="1559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3500">
                  <a:solidFill>
                    <a:srgbClr val="000000"/>
                  </a:solidFill>
                  <a:latin typeface="Mak"/>
                  <a:ea typeface="Mak"/>
                  <a:cs typeface="Mak"/>
                  <a:sym typeface="Mak"/>
                </a:rPr>
                <a:t>SHOOTING</a:t>
              </a:r>
            </a:p>
            <a:p>
              <a:pPr algn="ctr">
                <a:lnSpc>
                  <a:spcPts val="455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98780" y="6555185"/>
            <a:ext cx="6834439" cy="1754980"/>
            <a:chOff x="0" y="0"/>
            <a:chExt cx="9112586" cy="233997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23825"/>
              <a:ext cx="9112586" cy="1444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0"/>
                </a:lnSpc>
              </a:pPr>
              <a:r>
                <a:rPr lang="en-US" sz="6500">
                  <a:solidFill>
                    <a:srgbClr val="000000"/>
                  </a:solidFill>
                  <a:latin typeface="Mak"/>
                  <a:ea typeface="Mak"/>
                  <a:cs typeface="Mak"/>
                  <a:sym typeface="Mak"/>
                </a:rPr>
                <a:t>PASO 4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071567" y="1541990"/>
              <a:ext cx="6969451" cy="797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3500">
                  <a:solidFill>
                    <a:srgbClr val="000000"/>
                  </a:solidFill>
                  <a:latin typeface="Mak"/>
                  <a:ea typeface="Mak"/>
                  <a:cs typeface="Mak"/>
                  <a:sym typeface="Mak"/>
                </a:rPr>
                <a:t>LANZAR CAMPAÑA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-5400000">
            <a:off x="-2354538" y="6129024"/>
            <a:ext cx="569792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3">
                <a:solidFill>
                  <a:srgbClr val="35382F"/>
                </a:solidFill>
                <a:latin typeface="Gliker"/>
                <a:ea typeface="Gliker"/>
                <a:cs typeface="Gliker"/>
                <a:sym typeface="Gliker"/>
              </a:rPr>
              <a:t>BUSINESS PLAN</a:t>
            </a:r>
          </a:p>
        </p:txBody>
      </p:sp>
      <p:sp>
        <p:nvSpPr>
          <p:cNvPr name="TextBox 17" id="17"/>
          <p:cNvSpPr txBox="true"/>
          <p:nvPr/>
        </p:nvSpPr>
        <p:spPr>
          <a:xfrm rot="-5400000">
            <a:off x="-887454" y="1594398"/>
            <a:ext cx="271613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spc="253">
                <a:solidFill>
                  <a:srgbClr val="35382F"/>
                </a:solidFill>
                <a:latin typeface="Gliker"/>
                <a:ea typeface="Gliker"/>
                <a:cs typeface="Gliker"/>
                <a:sym typeface="Gliker"/>
              </a:rPr>
              <a:t>2022</a:t>
            </a:r>
          </a:p>
        </p:txBody>
      </p:sp>
      <p:sp>
        <p:nvSpPr>
          <p:cNvPr name="AutoShape 18" id="18"/>
          <p:cNvSpPr/>
          <p:nvPr/>
        </p:nvSpPr>
        <p:spPr>
          <a:xfrm rot="-5400000">
            <a:off x="-1314464" y="4327874"/>
            <a:ext cx="361778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6947158" y="7031439"/>
            <a:ext cx="312142" cy="312142"/>
            <a:chOff x="0" y="0"/>
            <a:chExt cx="6355080" cy="6355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FF696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947158" y="2981495"/>
            <a:ext cx="312142" cy="312142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947158" y="3562610"/>
            <a:ext cx="312142" cy="312142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947158" y="4119908"/>
            <a:ext cx="312142" cy="312142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947158" y="4674578"/>
            <a:ext cx="312142" cy="312142"/>
            <a:chOff x="0" y="0"/>
            <a:chExt cx="6350000" cy="6350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947158" y="5260731"/>
            <a:ext cx="312142" cy="312142"/>
            <a:chOff x="0" y="0"/>
            <a:chExt cx="6350000" cy="6350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947158" y="5838909"/>
            <a:ext cx="312142" cy="312142"/>
            <a:chOff x="0" y="0"/>
            <a:chExt cx="6350000" cy="6350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947158" y="6399114"/>
            <a:ext cx="312142" cy="312142"/>
            <a:chOff x="0" y="0"/>
            <a:chExt cx="6350000" cy="6350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5382F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85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643668" y="3619035"/>
            <a:ext cx="3623782" cy="6799454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5435962" y="3619035"/>
            <a:ext cx="3623782" cy="6799454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4" id="4"/>
          <p:cNvSpPr/>
          <p:nvPr/>
        </p:nvSpPr>
        <p:spPr>
          <a:xfrm rot="0">
            <a:off x="9228256" y="3619035"/>
            <a:ext cx="3623782" cy="6799454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2065337" y="2228812"/>
            <a:ext cx="2780446" cy="2780446"/>
            <a:chOff x="0" y="0"/>
            <a:chExt cx="3707261" cy="37072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7261" cy="3707261"/>
            </a:xfrm>
            <a:custGeom>
              <a:avLst/>
              <a:gdLst/>
              <a:ahLst/>
              <a:cxnLst/>
              <a:rect r="r" b="b" t="t" l="l"/>
              <a:pathLst>
                <a:path h="3707261" w="3707261">
                  <a:moveTo>
                    <a:pt x="0" y="0"/>
                  </a:moveTo>
                  <a:lnTo>
                    <a:pt x="3707261" y="0"/>
                  </a:lnTo>
                  <a:lnTo>
                    <a:pt x="3707261" y="3707261"/>
                  </a:lnTo>
                  <a:lnTo>
                    <a:pt x="0" y="3707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99858" y="99858"/>
              <a:ext cx="3507544" cy="3507544"/>
            </a:xfrm>
            <a:custGeom>
              <a:avLst/>
              <a:gdLst/>
              <a:ahLst/>
              <a:cxnLst/>
              <a:rect r="r" b="b" t="t" l="l"/>
              <a:pathLst>
                <a:path h="3507544" w="3507544">
                  <a:moveTo>
                    <a:pt x="0" y="0"/>
                  </a:moveTo>
                  <a:lnTo>
                    <a:pt x="3507545" y="0"/>
                  </a:lnTo>
                  <a:lnTo>
                    <a:pt x="3507545" y="3507545"/>
                  </a:lnTo>
                  <a:lnTo>
                    <a:pt x="0" y="350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49924" y="2228812"/>
            <a:ext cx="2780446" cy="2780446"/>
            <a:chOff x="0" y="0"/>
            <a:chExt cx="3707261" cy="37072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07261" cy="3707261"/>
            </a:xfrm>
            <a:custGeom>
              <a:avLst/>
              <a:gdLst/>
              <a:ahLst/>
              <a:cxnLst/>
              <a:rect r="r" b="b" t="t" l="l"/>
              <a:pathLst>
                <a:path h="3707261" w="3707261">
                  <a:moveTo>
                    <a:pt x="0" y="0"/>
                  </a:moveTo>
                  <a:lnTo>
                    <a:pt x="3707261" y="0"/>
                  </a:lnTo>
                  <a:lnTo>
                    <a:pt x="3707261" y="3707261"/>
                  </a:lnTo>
                  <a:lnTo>
                    <a:pt x="0" y="3707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9858" y="99858"/>
              <a:ext cx="3507544" cy="3507544"/>
            </a:xfrm>
            <a:custGeom>
              <a:avLst/>
              <a:gdLst/>
              <a:ahLst/>
              <a:cxnLst/>
              <a:rect r="r" b="b" t="t" l="l"/>
              <a:pathLst>
                <a:path h="3507544" w="3507544">
                  <a:moveTo>
                    <a:pt x="0" y="0"/>
                  </a:moveTo>
                  <a:lnTo>
                    <a:pt x="3507545" y="0"/>
                  </a:lnTo>
                  <a:lnTo>
                    <a:pt x="3507545" y="3507545"/>
                  </a:lnTo>
                  <a:lnTo>
                    <a:pt x="0" y="350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27524" y="3093355"/>
            <a:ext cx="1856070" cy="112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2"/>
              </a:lnSpc>
            </a:pPr>
            <a:r>
              <a:rPr lang="en-US" b="true" sz="7784">
                <a:solidFill>
                  <a:srgbClr val="35382F"/>
                </a:solidFill>
                <a:latin typeface="Gliker Bold"/>
                <a:ea typeface="Gliker Bold"/>
                <a:cs typeface="Gliker Bold"/>
                <a:sym typeface="Gliker Bold"/>
              </a:rPr>
              <a:t>F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857630" y="2228812"/>
            <a:ext cx="2780446" cy="2780446"/>
            <a:chOff x="0" y="0"/>
            <a:chExt cx="3707261" cy="37072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07261" cy="3707261"/>
            </a:xfrm>
            <a:custGeom>
              <a:avLst/>
              <a:gdLst/>
              <a:ahLst/>
              <a:cxnLst/>
              <a:rect r="r" b="b" t="t" l="l"/>
              <a:pathLst>
                <a:path h="3707261" w="3707261">
                  <a:moveTo>
                    <a:pt x="0" y="0"/>
                  </a:moveTo>
                  <a:lnTo>
                    <a:pt x="3707261" y="0"/>
                  </a:lnTo>
                  <a:lnTo>
                    <a:pt x="3707261" y="3707261"/>
                  </a:lnTo>
                  <a:lnTo>
                    <a:pt x="0" y="3707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99858" y="99858"/>
              <a:ext cx="3507544" cy="3507544"/>
            </a:xfrm>
            <a:custGeom>
              <a:avLst/>
              <a:gdLst/>
              <a:ahLst/>
              <a:cxnLst/>
              <a:rect r="r" b="b" t="t" l="l"/>
              <a:pathLst>
                <a:path h="3507544" w="3507544">
                  <a:moveTo>
                    <a:pt x="0" y="0"/>
                  </a:moveTo>
                  <a:lnTo>
                    <a:pt x="3507545" y="0"/>
                  </a:lnTo>
                  <a:lnTo>
                    <a:pt x="3507545" y="3507545"/>
                  </a:lnTo>
                  <a:lnTo>
                    <a:pt x="0" y="350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319818" y="3093355"/>
            <a:ext cx="1856070" cy="112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2"/>
              </a:lnSpc>
              <a:spcBef>
                <a:spcPct val="0"/>
              </a:spcBef>
            </a:pPr>
            <a:r>
              <a:rPr lang="en-US" b="true" sz="7784" u="none">
                <a:solidFill>
                  <a:srgbClr val="35382F"/>
                </a:solidFill>
                <a:latin typeface="Gliker Bold"/>
                <a:ea typeface="Gliker Bold"/>
                <a:cs typeface="Gliker Bold"/>
                <a:sym typeface="Gliker Bold"/>
              </a:rPr>
              <a:t>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12112" y="3093355"/>
            <a:ext cx="1856070" cy="112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2"/>
              </a:lnSpc>
            </a:pPr>
            <a:r>
              <a:rPr lang="en-US" b="true" sz="7784">
                <a:solidFill>
                  <a:srgbClr val="35382F"/>
                </a:solidFill>
                <a:latin typeface="Gliker Bold"/>
                <a:ea typeface="Gliker Bold"/>
                <a:cs typeface="Gliker Bold"/>
                <a:sym typeface="Gliker Bold"/>
              </a:rPr>
              <a:t>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9973" y="5691289"/>
            <a:ext cx="3151172" cy="44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476" spc="123">
                <a:solidFill>
                  <a:srgbClr val="000000"/>
                </a:solidFill>
                <a:latin typeface="Mak Bold"/>
                <a:ea typeface="Mak Bold"/>
                <a:cs typeface="Mak Bold"/>
                <a:sym typeface="Mak Bold"/>
              </a:rPr>
              <a:t>Fortalezas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79973" y="6322914"/>
            <a:ext cx="3151172" cy="354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sz="2022" spc="101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Deja a tu audiencia boquiabierta con las presentaciones de Canva. Elige entre miles de plantillas hechas por profesionales: tenemos plantillas para cualquier tema. </a:t>
            </a:r>
          </a:p>
          <a:p>
            <a:pPr algn="ctr">
              <a:lnSpc>
                <a:spcPts val="2832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672267" y="5691289"/>
            <a:ext cx="3151172" cy="44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476" spc="123">
                <a:solidFill>
                  <a:srgbClr val="000000"/>
                </a:solidFill>
                <a:latin typeface="Mak Bold"/>
                <a:ea typeface="Mak Bold"/>
                <a:cs typeface="Mak Bold"/>
                <a:sym typeface="Mak Bold"/>
              </a:rPr>
              <a:t>Oportunidades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72267" y="6247450"/>
            <a:ext cx="3151172" cy="284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sz="2022" spc="101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Dale un toque mágico a tu </a:t>
            </a:r>
            <a:r>
              <a:rPr lang="en-US" sz="2022" spc="101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presentación:</a:t>
            </a:r>
          </a:p>
          <a:p>
            <a:pPr algn="ctr">
              <a:lnSpc>
                <a:spcPts val="2832"/>
              </a:lnSpc>
            </a:pPr>
            <a:r>
              <a:rPr lang="en-US" sz="2022" spc="101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presiona “C” para usar</a:t>
            </a:r>
          </a:p>
          <a:p>
            <a:pPr algn="ctr">
              <a:lnSpc>
                <a:spcPts val="2832"/>
              </a:lnSpc>
            </a:pPr>
            <a:r>
              <a:rPr lang="en-US" sz="2022" spc="101">
                <a:solidFill>
                  <a:srgbClr val="35382F"/>
                </a:solidFill>
                <a:latin typeface="Mak"/>
                <a:ea typeface="Mak"/>
                <a:cs typeface="Mak"/>
                <a:sym typeface="Mak"/>
              </a:rPr>
              <a:t>confeti, “D” para el redoble del tambor y “O” para burbujas.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81412" y="5691289"/>
            <a:ext cx="3117469" cy="44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476" spc="123">
                <a:solidFill>
                  <a:srgbClr val="000000"/>
                </a:solidFill>
                <a:latin typeface="Mak Bold"/>
                <a:ea typeface="Mak Bold"/>
                <a:cs typeface="Mak Bold"/>
                <a:sym typeface="Mak Bold"/>
              </a:rPr>
              <a:t>Debilidades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81412" y="6247450"/>
            <a:ext cx="3117469" cy="354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sz="2022" spc="101">
                <a:solidFill>
                  <a:srgbClr val="000000"/>
                </a:solidFill>
                <a:latin typeface="Mak"/>
                <a:ea typeface="Mak"/>
                <a:cs typeface="Mak"/>
                <a:sym typeface="Mak"/>
              </a:rPr>
              <a:t>Personalízala con </a:t>
            </a:r>
          </a:p>
          <a:p>
            <a:pPr algn="ctr">
              <a:lnSpc>
                <a:spcPts val="2832"/>
              </a:lnSpc>
            </a:pPr>
            <a:r>
              <a:rPr lang="en-US" sz="2022" spc="101">
                <a:solidFill>
                  <a:srgbClr val="000000"/>
                </a:solidFill>
                <a:latin typeface="Mak"/>
                <a:ea typeface="Mak"/>
                <a:cs typeface="Mak"/>
                <a:sym typeface="Mak"/>
              </a:rPr>
              <a:t>texto </a:t>
            </a:r>
            <a:r>
              <a:rPr lang="en-US" sz="2022" spc="101">
                <a:solidFill>
                  <a:srgbClr val="000000"/>
                </a:solidFill>
                <a:latin typeface="Mak"/>
                <a:ea typeface="Mak"/>
                <a:cs typeface="Mak"/>
                <a:sym typeface="Mak"/>
              </a:rPr>
              <a:t>y fotos. Usa</a:t>
            </a:r>
          </a:p>
          <a:p>
            <a:pPr algn="ctr">
              <a:lnSpc>
                <a:spcPts val="2832"/>
              </a:lnSpc>
            </a:pPr>
            <a:r>
              <a:rPr lang="en-US" sz="2022" spc="101">
                <a:solidFill>
                  <a:srgbClr val="000000"/>
                </a:solidFill>
                <a:latin typeface="Mak"/>
                <a:ea typeface="Mak"/>
                <a:cs typeface="Mak"/>
                <a:sym typeface="Mak"/>
              </a:rPr>
              <a:t>animaciones y</a:t>
            </a:r>
          </a:p>
          <a:p>
            <a:pPr algn="ctr">
              <a:lnSpc>
                <a:spcPts val="2832"/>
              </a:lnSpc>
            </a:pPr>
            <a:r>
              <a:rPr lang="en-US" sz="2022" spc="101">
                <a:solidFill>
                  <a:srgbClr val="000000"/>
                </a:solidFill>
                <a:latin typeface="Mak"/>
                <a:ea typeface="Mak"/>
                <a:cs typeface="Mak"/>
                <a:sym typeface="Mak"/>
              </a:rPr>
              <a:t>transiciones entre</a:t>
            </a:r>
          </a:p>
          <a:p>
            <a:pPr algn="ctr">
              <a:lnSpc>
                <a:spcPts val="2832"/>
              </a:lnSpc>
            </a:pPr>
            <a:r>
              <a:rPr lang="en-US" sz="2022" spc="101">
                <a:solidFill>
                  <a:srgbClr val="000000"/>
                </a:solidFill>
                <a:latin typeface="Mak"/>
                <a:ea typeface="Mak"/>
                <a:cs typeface="Mak"/>
                <a:sym typeface="Mak"/>
              </a:rPr>
              <a:t>páginas para destacar</a:t>
            </a:r>
          </a:p>
          <a:p>
            <a:pPr algn="ctr">
              <a:lnSpc>
                <a:spcPts val="2832"/>
              </a:lnSpc>
            </a:pPr>
            <a:r>
              <a:rPr lang="en-US" sz="2022" spc="101">
                <a:solidFill>
                  <a:srgbClr val="000000"/>
                </a:solidFill>
                <a:latin typeface="Mak"/>
                <a:ea typeface="Mak"/>
                <a:cs typeface="Mak"/>
                <a:sym typeface="Mak"/>
              </a:rPr>
              <a:t>ciertas ideas y que tu</a:t>
            </a:r>
          </a:p>
          <a:p>
            <a:pPr algn="ctr">
              <a:lnSpc>
                <a:spcPts val="2832"/>
              </a:lnSpc>
            </a:pPr>
            <a:r>
              <a:rPr lang="en-US" sz="2022" spc="101">
                <a:solidFill>
                  <a:srgbClr val="000000"/>
                </a:solidFill>
                <a:latin typeface="Mak"/>
                <a:ea typeface="Mak"/>
                <a:cs typeface="Mak"/>
                <a:sym typeface="Mak"/>
              </a:rPr>
              <a:t>audiencia las recuerde.</a:t>
            </a:r>
          </a:p>
        </p:txBody>
      </p:sp>
      <p:sp>
        <p:nvSpPr>
          <p:cNvPr name="AutoShape 23" id="23"/>
          <p:cNvSpPr/>
          <p:nvPr/>
        </p:nvSpPr>
        <p:spPr>
          <a:xfrm rot="0">
            <a:off x="13020550" y="3619035"/>
            <a:ext cx="3623782" cy="6799454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24" id="24"/>
          <p:cNvGrpSpPr/>
          <p:nvPr/>
        </p:nvGrpSpPr>
        <p:grpSpPr>
          <a:xfrm rot="0">
            <a:off x="13442218" y="2228812"/>
            <a:ext cx="2780446" cy="2780446"/>
            <a:chOff x="0" y="0"/>
            <a:chExt cx="3707261" cy="37072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07261" cy="3707261"/>
            </a:xfrm>
            <a:custGeom>
              <a:avLst/>
              <a:gdLst/>
              <a:ahLst/>
              <a:cxnLst/>
              <a:rect r="r" b="b" t="t" l="l"/>
              <a:pathLst>
                <a:path h="3707261" w="3707261">
                  <a:moveTo>
                    <a:pt x="0" y="0"/>
                  </a:moveTo>
                  <a:lnTo>
                    <a:pt x="3707261" y="0"/>
                  </a:lnTo>
                  <a:lnTo>
                    <a:pt x="3707261" y="3707261"/>
                  </a:lnTo>
                  <a:lnTo>
                    <a:pt x="0" y="3707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99858" y="99858"/>
              <a:ext cx="3507544" cy="3507544"/>
            </a:xfrm>
            <a:custGeom>
              <a:avLst/>
              <a:gdLst/>
              <a:ahLst/>
              <a:cxnLst/>
              <a:rect r="r" b="b" t="t" l="l"/>
              <a:pathLst>
                <a:path h="3507544" w="3507544">
                  <a:moveTo>
                    <a:pt x="0" y="0"/>
                  </a:moveTo>
                  <a:lnTo>
                    <a:pt x="3507545" y="0"/>
                  </a:lnTo>
                  <a:lnTo>
                    <a:pt x="3507545" y="3507545"/>
                  </a:lnTo>
                  <a:lnTo>
                    <a:pt x="0" y="350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904405" y="3093355"/>
            <a:ext cx="1856070" cy="112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2"/>
              </a:lnSpc>
            </a:pPr>
            <a:r>
              <a:rPr lang="en-US" b="true" sz="7784">
                <a:solidFill>
                  <a:srgbClr val="35382F"/>
                </a:solidFill>
                <a:latin typeface="Gliker Bold"/>
                <a:ea typeface="Gliker Bold"/>
                <a:cs typeface="Gliker Bold"/>
                <a:sym typeface="Gliker Bold"/>
              </a:rPr>
              <a:t>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56855" y="5691289"/>
            <a:ext cx="3151172" cy="44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476" spc="123">
                <a:solidFill>
                  <a:srgbClr val="000000"/>
                </a:solidFill>
                <a:latin typeface="Mak Bold"/>
                <a:ea typeface="Mak Bold"/>
                <a:cs typeface="Mak Bold"/>
                <a:sym typeface="Mak Bold"/>
              </a:rPr>
              <a:t>Amenazas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56855" y="6322914"/>
            <a:ext cx="3151172" cy="213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sz="2022" spc="101">
                <a:solidFill>
                  <a:srgbClr val="000000"/>
                </a:solidFill>
                <a:latin typeface="Mak"/>
                <a:ea typeface="Mak"/>
                <a:cs typeface="Mak"/>
                <a:sym typeface="Mak"/>
              </a:rPr>
              <a:t>Trabaja en equipo en tiempo real y siente como si todos estuvieran en la misma oficina. </a:t>
            </a:r>
          </a:p>
          <a:p>
            <a:pPr algn="ctr">
              <a:lnSpc>
                <a:spcPts val="2832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6947158" y="2981495"/>
            <a:ext cx="312142" cy="312142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947158" y="3562610"/>
            <a:ext cx="312142" cy="312142"/>
            <a:chOff x="0" y="0"/>
            <a:chExt cx="6350000" cy="6350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947158" y="4119908"/>
            <a:ext cx="312142" cy="312142"/>
            <a:chOff x="0" y="0"/>
            <a:chExt cx="6350000" cy="635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6947158" y="4674578"/>
            <a:ext cx="312142" cy="312142"/>
            <a:chOff x="0" y="0"/>
            <a:chExt cx="6350000" cy="6350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947158" y="5260731"/>
            <a:ext cx="312142" cy="312142"/>
            <a:chOff x="0" y="0"/>
            <a:chExt cx="6350000" cy="6350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947158" y="5838909"/>
            <a:ext cx="312142" cy="312142"/>
            <a:chOff x="0" y="0"/>
            <a:chExt cx="6350000" cy="635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6947158" y="6399114"/>
            <a:ext cx="312142" cy="312142"/>
            <a:chOff x="0" y="0"/>
            <a:chExt cx="6350000" cy="6350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6947158" y="7027806"/>
            <a:ext cx="312142" cy="312142"/>
            <a:chOff x="0" y="0"/>
            <a:chExt cx="6350000" cy="6350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6" id="46"/>
          <p:cNvSpPr txBox="true"/>
          <p:nvPr/>
        </p:nvSpPr>
        <p:spPr>
          <a:xfrm rot="-5400000">
            <a:off x="-906504" y="1575348"/>
            <a:ext cx="2716133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spc="253">
                <a:solidFill>
                  <a:srgbClr val="FFFFFF"/>
                </a:solidFill>
                <a:latin typeface="Mak"/>
                <a:ea typeface="Mak"/>
                <a:cs typeface="Mak"/>
                <a:sym typeface="Mak"/>
              </a:rPr>
              <a:t>2022</a:t>
            </a:r>
          </a:p>
        </p:txBody>
      </p:sp>
      <p:sp>
        <p:nvSpPr>
          <p:cNvPr name="AutoShape 47" id="47"/>
          <p:cNvSpPr/>
          <p:nvPr/>
        </p:nvSpPr>
        <p:spPr>
          <a:xfrm rot="-5400000">
            <a:off x="-1314464" y="4327874"/>
            <a:ext cx="361778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-5400000">
            <a:off x="-2373588" y="6109974"/>
            <a:ext cx="569792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3">
                <a:solidFill>
                  <a:srgbClr val="FFFFFF"/>
                </a:solidFill>
                <a:latin typeface="Mak"/>
                <a:ea typeface="Mak"/>
                <a:cs typeface="Mak"/>
                <a:sym typeface="Mak"/>
              </a:rPr>
              <a:t>BUSINESS PLAN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85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5400000">
            <a:off x="-2373588" y="6109974"/>
            <a:ext cx="569792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3">
                <a:solidFill>
                  <a:srgbClr val="FFFFFF"/>
                </a:solidFill>
                <a:latin typeface="Mak"/>
                <a:ea typeface="Mak"/>
                <a:cs typeface="Mak"/>
                <a:sym typeface="Mak"/>
              </a:rPr>
              <a:t>BUSINESS PLAN</a:t>
            </a:r>
          </a:p>
        </p:txBody>
      </p:sp>
      <p:sp>
        <p:nvSpPr>
          <p:cNvPr name="TextBox 3" id="3"/>
          <p:cNvSpPr txBox="true"/>
          <p:nvPr/>
        </p:nvSpPr>
        <p:spPr>
          <a:xfrm rot="-5400000">
            <a:off x="-906504" y="1575348"/>
            <a:ext cx="2716133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spc="253">
                <a:solidFill>
                  <a:srgbClr val="FFFFFF"/>
                </a:solidFill>
                <a:latin typeface="Mak"/>
                <a:ea typeface="Mak"/>
                <a:cs typeface="Mak"/>
                <a:sym typeface="Mak"/>
              </a:rPr>
              <a:t>2022</a:t>
            </a:r>
          </a:p>
        </p:txBody>
      </p:sp>
      <p:sp>
        <p:nvSpPr>
          <p:cNvPr name="AutoShape 4" id="4"/>
          <p:cNvSpPr/>
          <p:nvPr/>
        </p:nvSpPr>
        <p:spPr>
          <a:xfrm rot="-5400000">
            <a:off x="-1314464" y="4327874"/>
            <a:ext cx="361778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131165" y="3934055"/>
            <a:ext cx="14025669" cy="242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4"/>
              </a:lnSpc>
            </a:pPr>
            <a:r>
              <a:rPr lang="en-US" b="true" sz="8714" spc="174">
                <a:solidFill>
                  <a:srgbClr val="FFFFFF"/>
                </a:solidFill>
                <a:latin typeface="Mak Bold"/>
                <a:ea typeface="Mak Bold"/>
                <a:cs typeface="Mak Bold"/>
                <a:sym typeface="Mak Bold"/>
              </a:rPr>
              <a:t>¡MUCHAS GRACIAS POR SU ATENCIÓN !</a:t>
            </a:r>
          </a:p>
        </p:txBody>
      </p:sp>
      <p:sp>
        <p:nvSpPr>
          <p:cNvPr name="AutoShape 6" id="6"/>
          <p:cNvSpPr/>
          <p:nvPr/>
        </p:nvSpPr>
        <p:spPr>
          <a:xfrm rot="-5400000">
            <a:off x="-1314464" y="4327874"/>
            <a:ext cx="361778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631260" y="879141"/>
            <a:ext cx="8145759" cy="8175488"/>
          </a:xfrm>
          <a:custGeom>
            <a:avLst/>
            <a:gdLst/>
            <a:ahLst/>
            <a:cxnLst/>
            <a:rect r="r" b="b" t="t" l="l"/>
            <a:pathLst>
              <a:path h="8175488" w="8145759">
                <a:moveTo>
                  <a:pt x="0" y="0"/>
                </a:moveTo>
                <a:lnTo>
                  <a:pt x="8145759" y="0"/>
                </a:lnTo>
                <a:lnTo>
                  <a:pt x="8145759" y="8175487"/>
                </a:lnTo>
                <a:lnTo>
                  <a:pt x="0" y="81754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251734">
            <a:off x="14494952" y="3928862"/>
            <a:ext cx="8145759" cy="8175488"/>
          </a:xfrm>
          <a:custGeom>
            <a:avLst/>
            <a:gdLst/>
            <a:ahLst/>
            <a:cxnLst/>
            <a:rect r="r" b="b" t="t" l="l"/>
            <a:pathLst>
              <a:path h="8175488" w="8145759">
                <a:moveTo>
                  <a:pt x="0" y="0"/>
                </a:moveTo>
                <a:lnTo>
                  <a:pt x="8145758" y="0"/>
                </a:lnTo>
                <a:lnTo>
                  <a:pt x="8145758" y="8175488"/>
                </a:lnTo>
                <a:lnTo>
                  <a:pt x="0" y="817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234792">
            <a:off x="10814028" y="-5155063"/>
            <a:ext cx="8145759" cy="8175488"/>
          </a:xfrm>
          <a:custGeom>
            <a:avLst/>
            <a:gdLst/>
            <a:ahLst/>
            <a:cxnLst/>
            <a:rect r="r" b="b" t="t" l="l"/>
            <a:pathLst>
              <a:path h="8175488" w="8145759">
                <a:moveTo>
                  <a:pt x="0" y="0"/>
                </a:moveTo>
                <a:lnTo>
                  <a:pt x="8145759" y="0"/>
                </a:lnTo>
                <a:lnTo>
                  <a:pt x="8145759" y="8175487"/>
                </a:lnTo>
                <a:lnTo>
                  <a:pt x="0" y="81754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586972" y="7250488"/>
            <a:ext cx="6436465" cy="5675792"/>
          </a:xfrm>
          <a:custGeom>
            <a:avLst/>
            <a:gdLst/>
            <a:ahLst/>
            <a:cxnLst/>
            <a:rect r="r" b="b" t="t" l="l"/>
            <a:pathLst>
              <a:path h="5675792" w="6436465">
                <a:moveTo>
                  <a:pt x="0" y="0"/>
                </a:moveTo>
                <a:lnTo>
                  <a:pt x="6436465" y="0"/>
                </a:lnTo>
                <a:lnTo>
                  <a:pt x="6436465" y="5675792"/>
                </a:lnTo>
                <a:lnTo>
                  <a:pt x="0" y="567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7423" y="-2201106"/>
            <a:ext cx="6436465" cy="5675792"/>
          </a:xfrm>
          <a:custGeom>
            <a:avLst/>
            <a:gdLst/>
            <a:ahLst/>
            <a:cxnLst/>
            <a:rect r="r" b="b" t="t" l="l"/>
            <a:pathLst>
              <a:path h="5675792" w="6436465">
                <a:moveTo>
                  <a:pt x="0" y="0"/>
                </a:moveTo>
                <a:lnTo>
                  <a:pt x="6436465" y="0"/>
                </a:lnTo>
                <a:lnTo>
                  <a:pt x="6436465" y="5675793"/>
                </a:lnTo>
                <a:lnTo>
                  <a:pt x="0" y="56757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50443" y="7250488"/>
            <a:ext cx="6436465" cy="5675792"/>
          </a:xfrm>
          <a:custGeom>
            <a:avLst/>
            <a:gdLst/>
            <a:ahLst/>
            <a:cxnLst/>
            <a:rect r="r" b="b" t="t" l="l"/>
            <a:pathLst>
              <a:path h="5675792" w="6436465">
                <a:moveTo>
                  <a:pt x="0" y="0"/>
                </a:moveTo>
                <a:lnTo>
                  <a:pt x="6436465" y="0"/>
                </a:lnTo>
                <a:lnTo>
                  <a:pt x="6436465" y="5675792"/>
                </a:lnTo>
                <a:lnTo>
                  <a:pt x="0" y="567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275585">
            <a:off x="11041242" y="1424868"/>
            <a:ext cx="3524482" cy="4604430"/>
          </a:xfrm>
          <a:custGeom>
            <a:avLst/>
            <a:gdLst/>
            <a:ahLst/>
            <a:cxnLst/>
            <a:rect r="r" b="b" t="t" l="l"/>
            <a:pathLst>
              <a:path h="4604430" w="3524482">
                <a:moveTo>
                  <a:pt x="0" y="0"/>
                </a:moveTo>
                <a:lnTo>
                  <a:pt x="3524482" y="0"/>
                </a:lnTo>
                <a:lnTo>
                  <a:pt x="3524482" y="4604430"/>
                </a:lnTo>
                <a:lnTo>
                  <a:pt x="0" y="4604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-5400000">
            <a:off x="-2373588" y="6109974"/>
            <a:ext cx="5697928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53">
                <a:solidFill>
                  <a:srgbClr val="FFFFFF"/>
                </a:solidFill>
                <a:latin typeface="Mak"/>
                <a:ea typeface="Mak"/>
                <a:cs typeface="Mak"/>
                <a:sym typeface="Mak"/>
              </a:rPr>
              <a:t>BUSINESS PLAN</a:t>
            </a:r>
          </a:p>
        </p:txBody>
      </p:sp>
      <p:sp>
        <p:nvSpPr>
          <p:cNvPr name="TextBox 15" id="15"/>
          <p:cNvSpPr txBox="true"/>
          <p:nvPr/>
        </p:nvSpPr>
        <p:spPr>
          <a:xfrm rot="-5400000">
            <a:off x="-906504" y="1575348"/>
            <a:ext cx="2716133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spc="253">
                <a:solidFill>
                  <a:srgbClr val="FFFFFF"/>
                </a:solidFill>
                <a:latin typeface="Mak"/>
                <a:ea typeface="Mak"/>
                <a:cs typeface="Mak"/>
                <a:sym typeface="Mak"/>
              </a:rPr>
              <a:t>2022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DAHKREB4o6E</dc:identifier>
  <dcterms:modified xsi:type="dcterms:W3CDTF">2011-08-01T06:04:30Z</dcterms:modified>
  <cp:revision>1</cp:revision>
  <dc:title>Presentacion Plan de Negocios Minimalista Marron</dc:title>
</cp:coreProperties>
</file>